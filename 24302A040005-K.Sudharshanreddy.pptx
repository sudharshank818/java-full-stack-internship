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7" r:id="rId11"/>
    <p:sldId id="265" r:id="rId12"/>
    <p:sldId id="268"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CA3335F-28D3-4559-9EA0-123FA7B98AC9}">
          <p14:sldIdLst>
            <p14:sldId id="256"/>
            <p14:sldId id="257"/>
            <p14:sldId id="258"/>
            <p14:sldId id="259"/>
            <p14:sldId id="260"/>
            <p14:sldId id="261"/>
            <p14:sldId id="262"/>
            <p14:sldId id="263"/>
            <p14:sldId id="264"/>
            <p14:sldId id="267"/>
            <p14:sldId id="265"/>
            <p14:sldId id="268"/>
            <p14:sldId id="266"/>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434"/>
    <a:srgbClr val="0000CC"/>
    <a:srgbClr val="0000FF"/>
    <a:srgbClr val="FF3399"/>
    <a:srgbClr val="FFE5FF"/>
    <a:srgbClr val="FFB3FF"/>
    <a:srgbClr val="1C76E4"/>
    <a:srgbClr val="B218E8"/>
    <a:srgbClr val="D1D1FF"/>
    <a:srgbClr val="AFE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1940" autoAdjust="0"/>
  </p:normalViewPr>
  <p:slideViewPr>
    <p:cSldViewPr showGuides="1">
      <p:cViewPr>
        <p:scale>
          <a:sx n="50" d="100"/>
          <a:sy n="50" d="100"/>
        </p:scale>
        <p:origin x="2414" y="758"/>
      </p:cViewPr>
      <p:guideLst>
        <p:guide orient="horz" pos="2160"/>
        <p:guide pos="2880"/>
      </p:guideLst>
    </p:cSldViewPr>
  </p:slideViewPr>
  <p:notesTextViewPr>
    <p:cViewPr>
      <p:scale>
        <a:sx n="100" d="100"/>
        <a:sy n="100" d="100"/>
      </p:scale>
      <p:origin x="0" y="0"/>
    </p:cViewPr>
  </p:notesTextViewPr>
  <p:notesViewPr>
    <p:cSldViewPr>
      <p:cViewPr varScale="1">
        <p:scale>
          <a:sx n="37" d="100"/>
          <a:sy n="37" d="100"/>
        </p:scale>
        <p:origin x="2376" y="31"/>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FC3900-4B7B-4C37-90D4-1FAE16FACCDB}" type="datetimeFigureOut">
              <a:rPr lang="en-IN" smtClean="0"/>
              <a:t>24-10-2026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A96A1B-F8DF-42FE-8F82-3419C5C867AF}"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C8C2B9-14A4-41F9-A519-17844BFC1EA3}" type="datetimeFigureOut">
              <a:rPr lang="en-US" smtClean="0"/>
              <a:t>10/24/2026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E0F338-0F76-4A7B-AC7B-DA76A424739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40"/>
            <a:ext cx="8229600" cy="680485"/>
          </a:xfrm>
        </p:spPr>
        <p:txBody>
          <a:bodyPr>
            <a:normAutofit/>
          </a:bodyPr>
          <a:lstStyle>
            <a:lvl1pPr>
              <a:defRPr sz="2600" b="1">
                <a:solidFill>
                  <a:srgbClr val="00B05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457200" y="1143002"/>
            <a:ext cx="8229600" cy="4983163"/>
          </a:xfrm>
        </p:spPr>
        <p:txBody>
          <a:bodyPr>
            <a:normAutofit/>
          </a:bodyPr>
          <a:lstStyle>
            <a:lvl1pPr algn="just">
              <a:lnSpc>
                <a:spcPct val="120000"/>
              </a:lnSpc>
              <a:spcBef>
                <a:spcPts val="0"/>
              </a:spcBef>
              <a:spcAft>
                <a:spcPts val="600"/>
              </a:spcAft>
              <a:defRPr sz="1800">
                <a:latin typeface="Tahoma" panose="020B0604030504040204" pitchFamily="34" charset="0"/>
                <a:ea typeface="Tahoma" panose="020B0604030504040204" pitchFamily="34" charset="0"/>
                <a:cs typeface="Tahoma" panose="020B0604030504040204" pitchFamily="34" charset="0"/>
              </a:defRPr>
            </a:lvl1pPr>
            <a:lvl2pPr algn="just">
              <a:lnSpc>
                <a:spcPct val="120000"/>
              </a:lnSpc>
              <a:spcBef>
                <a:spcPts val="0"/>
              </a:spcBef>
              <a:spcAft>
                <a:spcPts val="600"/>
              </a:spcAft>
              <a:defRPr sz="1800">
                <a:latin typeface="Tahoma" panose="020B0604030504040204" pitchFamily="34" charset="0"/>
                <a:ea typeface="Tahoma" panose="020B0604030504040204" pitchFamily="34" charset="0"/>
                <a:cs typeface="Tahoma" panose="020B0604030504040204" pitchFamily="34" charset="0"/>
              </a:defRPr>
            </a:lvl2pPr>
            <a:lvl3pPr algn="just">
              <a:lnSpc>
                <a:spcPct val="120000"/>
              </a:lnSpc>
              <a:spcBef>
                <a:spcPts val="0"/>
              </a:spcBef>
              <a:spcAft>
                <a:spcPts val="600"/>
              </a:spcAft>
              <a:defRPr sz="1800">
                <a:latin typeface="Tahoma" panose="020B0604030504040204" pitchFamily="34" charset="0"/>
                <a:ea typeface="Tahoma" panose="020B0604030504040204" pitchFamily="34" charset="0"/>
                <a:cs typeface="Tahoma" panose="020B0604030504040204" pitchFamily="34" charset="0"/>
              </a:defRPr>
            </a:lvl3pPr>
            <a:lvl4pPr algn="just">
              <a:lnSpc>
                <a:spcPct val="120000"/>
              </a:lnSpc>
              <a:spcBef>
                <a:spcPts val="0"/>
              </a:spcBef>
              <a:spcAft>
                <a:spcPts val="600"/>
              </a:spcAft>
              <a:defRPr sz="1800">
                <a:latin typeface="Tahoma" panose="020B0604030504040204" pitchFamily="34" charset="0"/>
                <a:ea typeface="Tahoma" panose="020B0604030504040204" pitchFamily="34" charset="0"/>
                <a:cs typeface="Tahoma" panose="020B0604030504040204" pitchFamily="34" charset="0"/>
              </a:defRPr>
            </a:lvl4pPr>
            <a:lvl5pPr algn="just">
              <a:lnSpc>
                <a:spcPct val="120000"/>
              </a:lnSpc>
              <a:spcBef>
                <a:spcPts val="0"/>
              </a:spcBef>
              <a:spcAft>
                <a:spcPts val="600"/>
              </a:spcAft>
              <a:defRPr sz="18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oup 7"/>
          <p:cNvGrpSpPr/>
          <p:nvPr userDrawn="1"/>
        </p:nvGrpSpPr>
        <p:grpSpPr>
          <a:xfrm>
            <a:off x="152400" y="152400"/>
            <a:ext cx="8915400" cy="6522720"/>
            <a:chOff x="152400" y="152400"/>
            <a:chExt cx="8915400" cy="6522720"/>
          </a:xfrm>
        </p:grpSpPr>
        <p:cxnSp>
          <p:nvCxnSpPr>
            <p:cNvPr id="9" name="Straight Connector 8"/>
            <p:cNvCxnSpPr/>
            <p:nvPr/>
          </p:nvCxnSpPr>
          <p:spPr bwMode="auto">
            <a:xfrm>
              <a:off x="6873240" y="304800"/>
              <a:ext cx="2194560" cy="1588"/>
            </a:xfrm>
            <a:prstGeom prst="line">
              <a:avLst/>
            </a:prstGeom>
            <a:solidFill>
              <a:schemeClr val="accent1"/>
            </a:solidFill>
            <a:ln w="28575" cap="flat" cmpd="sng" algn="ctr">
              <a:solidFill>
                <a:srgbClr val="006600"/>
              </a:solidFill>
              <a:prstDash val="solid"/>
              <a:round/>
              <a:headEnd type="none" w="med" len="med"/>
              <a:tailEnd type="none" w="med" len="med"/>
            </a:ln>
            <a:effectLst/>
          </p:spPr>
        </p:cxnSp>
        <p:cxnSp>
          <p:nvCxnSpPr>
            <p:cNvPr id="10" name="Straight Connector 9"/>
            <p:cNvCxnSpPr/>
            <p:nvPr/>
          </p:nvCxnSpPr>
          <p:spPr bwMode="auto">
            <a:xfrm rot="16200000">
              <a:off x="8457406" y="608806"/>
              <a:ext cx="914400" cy="1588"/>
            </a:xfrm>
            <a:prstGeom prst="line">
              <a:avLst/>
            </a:prstGeom>
            <a:solidFill>
              <a:schemeClr val="accent1"/>
            </a:solidFill>
            <a:ln w="28575" cap="flat" cmpd="sng" algn="ctr">
              <a:solidFill>
                <a:srgbClr val="006600"/>
              </a:solidFill>
              <a:prstDash val="solid"/>
              <a:round/>
              <a:headEnd type="none" w="med" len="med"/>
              <a:tailEnd type="none" w="med" len="med"/>
            </a:ln>
            <a:effectLst/>
          </p:spPr>
        </p:cxnSp>
        <p:cxnSp>
          <p:nvCxnSpPr>
            <p:cNvPr id="11" name="Straight Connector 10"/>
            <p:cNvCxnSpPr/>
            <p:nvPr/>
          </p:nvCxnSpPr>
          <p:spPr bwMode="auto">
            <a:xfrm rot="16200000">
              <a:off x="8381206" y="685006"/>
              <a:ext cx="914400" cy="1588"/>
            </a:xfrm>
            <a:prstGeom prst="line">
              <a:avLst/>
            </a:prstGeom>
            <a:solidFill>
              <a:schemeClr val="accent1"/>
            </a:solidFill>
            <a:ln w="12700" cap="flat" cmpd="sng" algn="ctr">
              <a:solidFill>
                <a:srgbClr val="006600"/>
              </a:solidFill>
              <a:prstDash val="solid"/>
              <a:round/>
              <a:headEnd type="none" w="med" len="med"/>
              <a:tailEnd type="none" w="med" len="med"/>
            </a:ln>
            <a:effectLst>
              <a:innerShdw blurRad="63500" dist="50800">
                <a:prstClr val="black">
                  <a:alpha val="50000"/>
                </a:prstClr>
              </a:innerShdw>
            </a:effectLst>
          </p:spPr>
        </p:cxnSp>
        <p:cxnSp>
          <p:nvCxnSpPr>
            <p:cNvPr id="12" name="Straight Connector 11"/>
            <p:cNvCxnSpPr/>
            <p:nvPr/>
          </p:nvCxnSpPr>
          <p:spPr bwMode="auto">
            <a:xfrm>
              <a:off x="7010400" y="381000"/>
              <a:ext cx="2011680" cy="1588"/>
            </a:xfrm>
            <a:prstGeom prst="line">
              <a:avLst/>
            </a:prstGeom>
            <a:solidFill>
              <a:schemeClr val="accent1"/>
            </a:solidFill>
            <a:ln w="12700" cap="flat" cmpd="sng" algn="ctr">
              <a:solidFill>
                <a:srgbClr val="006600"/>
              </a:solidFill>
              <a:prstDash val="solid"/>
              <a:round/>
              <a:headEnd type="none" w="med" len="med"/>
              <a:tailEnd type="none" w="med" len="med"/>
            </a:ln>
            <a:effectLst>
              <a:innerShdw blurRad="63500" dist="50800">
                <a:prstClr val="black">
                  <a:alpha val="50000"/>
                </a:prstClr>
              </a:innerShdw>
            </a:effectLst>
          </p:spPr>
        </p:cxnSp>
        <p:cxnSp>
          <p:nvCxnSpPr>
            <p:cNvPr id="13" name="Straight Connector 12"/>
            <p:cNvCxnSpPr/>
            <p:nvPr/>
          </p:nvCxnSpPr>
          <p:spPr bwMode="auto">
            <a:xfrm rot="5400000">
              <a:off x="-837406" y="5577046"/>
              <a:ext cx="2194560" cy="1588"/>
            </a:xfrm>
            <a:prstGeom prst="line">
              <a:avLst/>
            </a:prstGeom>
            <a:solidFill>
              <a:schemeClr val="accent1"/>
            </a:solidFill>
            <a:ln w="28575" cap="flat" cmpd="sng" algn="ctr">
              <a:solidFill>
                <a:srgbClr val="006600"/>
              </a:solidFill>
              <a:prstDash val="solid"/>
              <a:round/>
              <a:headEnd type="none" w="med" len="med"/>
              <a:tailEnd type="none" w="med" len="med"/>
            </a:ln>
            <a:effectLst/>
          </p:spPr>
        </p:cxnSp>
        <p:cxnSp>
          <p:nvCxnSpPr>
            <p:cNvPr id="14" name="Straight Connector 13"/>
            <p:cNvCxnSpPr/>
            <p:nvPr/>
          </p:nvCxnSpPr>
          <p:spPr bwMode="auto">
            <a:xfrm>
              <a:off x="152400" y="6553200"/>
              <a:ext cx="914400" cy="1588"/>
            </a:xfrm>
            <a:prstGeom prst="line">
              <a:avLst/>
            </a:prstGeom>
            <a:solidFill>
              <a:schemeClr val="accent1"/>
            </a:solidFill>
            <a:ln w="28575" cap="flat" cmpd="sng" algn="ctr">
              <a:solidFill>
                <a:srgbClr val="006600"/>
              </a:solidFill>
              <a:prstDash val="solid"/>
              <a:round/>
              <a:headEnd type="none" w="med" len="med"/>
              <a:tailEnd type="none" w="med" len="med"/>
            </a:ln>
            <a:effectLst/>
          </p:spPr>
        </p:cxnSp>
        <p:cxnSp>
          <p:nvCxnSpPr>
            <p:cNvPr id="15" name="Straight Connector 14"/>
            <p:cNvCxnSpPr/>
            <p:nvPr/>
          </p:nvCxnSpPr>
          <p:spPr bwMode="auto">
            <a:xfrm>
              <a:off x="188259" y="6477000"/>
              <a:ext cx="914400" cy="1588"/>
            </a:xfrm>
            <a:prstGeom prst="line">
              <a:avLst/>
            </a:prstGeom>
            <a:solidFill>
              <a:schemeClr val="accent1"/>
            </a:solidFill>
            <a:ln w="12700" cap="flat" cmpd="sng" algn="ctr">
              <a:solidFill>
                <a:srgbClr val="006600"/>
              </a:solidFill>
              <a:prstDash val="solid"/>
              <a:round/>
              <a:headEnd type="none" w="med" len="med"/>
              <a:tailEnd type="none" w="med" len="med"/>
            </a:ln>
            <a:effectLst>
              <a:innerShdw blurRad="63500" dist="50800">
                <a:prstClr val="black">
                  <a:alpha val="50000"/>
                </a:prstClr>
              </a:innerShdw>
            </a:effectLst>
          </p:spPr>
        </p:cxnSp>
        <p:cxnSp>
          <p:nvCxnSpPr>
            <p:cNvPr id="16" name="Straight Connector 15"/>
            <p:cNvCxnSpPr/>
            <p:nvPr/>
          </p:nvCxnSpPr>
          <p:spPr bwMode="auto">
            <a:xfrm rot="5400000">
              <a:off x="-700246" y="5653246"/>
              <a:ext cx="2011680" cy="1588"/>
            </a:xfrm>
            <a:prstGeom prst="line">
              <a:avLst/>
            </a:prstGeom>
            <a:solidFill>
              <a:schemeClr val="accent1"/>
            </a:solidFill>
            <a:ln w="12700" cap="flat" cmpd="sng" algn="ctr">
              <a:solidFill>
                <a:srgbClr val="006600"/>
              </a:solidFill>
              <a:prstDash val="solid"/>
              <a:round/>
              <a:headEnd type="none" w="med" len="med"/>
              <a:tailEnd type="none" w="med" len="med"/>
            </a:ln>
            <a:effectLst>
              <a:innerShdw blurRad="63500" dist="50800">
                <a:prstClr val="black">
                  <a:alpha val="50000"/>
                </a:prstClr>
              </a:innerShdw>
            </a:effectLst>
          </p:spPr>
        </p:cxnSp>
      </p:grpSp>
      <p:sp>
        <p:nvSpPr>
          <p:cNvPr id="21" name="Slide Number Placeholder 5"/>
          <p:cNvSpPr>
            <a:spLocks noGrp="1"/>
          </p:cNvSpPr>
          <p:nvPr>
            <p:ph type="sldNum" sz="quarter" idx="12"/>
          </p:nvPr>
        </p:nvSpPr>
        <p:spPr>
          <a:xfrm>
            <a:off x="4648200" y="6266141"/>
            <a:ext cx="2057400" cy="365125"/>
          </a:xfrm>
          <a:prstGeom prst="rect">
            <a:avLst/>
          </a:prstGeom>
        </p:spPr>
        <p:txBody>
          <a:bodyPr/>
          <a:lstStyle>
            <a:lvl1pPr>
              <a:defRPr sz="1600" b="1"/>
            </a:lvl1pPr>
          </a:lstStyle>
          <a:p>
            <a:fld id="{B03FF234-8176-4A77-8F9A-3A491C5D5CBE}" type="slidenum">
              <a:rPr lang="en-IN" smtClean="0"/>
              <a:t>‹#›</a:t>
            </a:fld>
            <a:endParaRPr lang="en-IN"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43453" y="5945103"/>
            <a:ext cx="1345573" cy="737877"/>
          </a:xfrm>
          <a:prstGeom prst="rect">
            <a:avLst/>
          </a:prstGeom>
          <a:noFill/>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2600" b="1" kern="1200">
          <a:solidFill>
            <a:srgbClr val="007434"/>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341312" y="5029538"/>
            <a:ext cx="6461376" cy="1599862"/>
          </a:xfrm>
          <a:prstGeom prst="rect">
            <a:avLst/>
          </a:prstGeom>
          <a:noFill/>
          <a:ln w="9525">
            <a:noFill/>
            <a:miter lim="800000"/>
          </a:ln>
          <a:effectLst/>
        </p:spPr>
        <p:txBody>
          <a:bodyPr vert="horz" wrap="square" lIns="91440" tIns="45720" rIns="91440" bIns="45720" numCol="1" anchor="ctr" anchorCtr="0" compatLnSpc="1">
            <a:spAutoFit/>
          </a:bodyPr>
          <a:lstStyle/>
          <a:p>
            <a:pPr algn="ctr" eaLnBrk="0" fontAlgn="base" hangingPunct="0">
              <a:spcBef>
                <a:spcPct val="0"/>
              </a:spcBef>
              <a:spcAft>
                <a:spcPct val="0"/>
              </a:spcAft>
            </a:pPr>
            <a:r>
              <a:rPr lang="en-US" sz="2000" dirty="0">
                <a:solidFill>
                  <a:srgbClr val="006600"/>
                </a:solidFill>
                <a:latin typeface="Britannic Bold" pitchFamily="34" charset="0"/>
                <a:ea typeface="Calibri" panose="020F0502020204030204" pitchFamily="34" charset="0"/>
                <a:cs typeface="Arial" panose="020B0604020202020204" pitchFamily="34" charset="0"/>
              </a:rPr>
              <a:t>Department of Computer Science and Engineering</a:t>
            </a:r>
          </a:p>
          <a:p>
            <a:pPr algn="ctr" eaLnBrk="0" fontAlgn="base" hangingPunct="0">
              <a:spcBef>
                <a:spcPct val="0"/>
              </a:spcBef>
              <a:spcAft>
                <a:spcPct val="0"/>
              </a:spcAft>
            </a:pPr>
            <a:r>
              <a:rPr lang="en-US" sz="2000" dirty="0">
                <a:solidFill>
                  <a:srgbClr val="006600"/>
                </a:solidFill>
                <a:latin typeface="Britannic Bold" pitchFamily="34" charset="0"/>
                <a:ea typeface="Calibri" panose="020F0502020204030204" pitchFamily="34" charset="0"/>
                <a:cs typeface="Arial" panose="020B0604020202020204" pitchFamily="34" charset="0"/>
              </a:rPr>
              <a:t>School of Computing</a:t>
            </a:r>
          </a:p>
          <a:p>
            <a:pPr algn="ctr">
              <a:lnSpc>
                <a:spcPct val="115000"/>
              </a:lnSpc>
            </a:pPr>
            <a:r>
              <a:rPr lang="en-US" sz="2200" b="1" dirty="0">
                <a:solidFill>
                  <a:srgbClr val="C00000"/>
                </a:solidFill>
                <a:latin typeface="Bitter Black" pitchFamily="2" charset="0"/>
                <a:ea typeface="Calibri" panose="020F0502020204030204"/>
                <a:cs typeface="Times New Roman" panose="02020603050405020304"/>
              </a:rPr>
              <a:t>Mohan Babu University</a:t>
            </a:r>
          </a:p>
          <a:p>
            <a:pPr algn="ctr">
              <a:lnSpc>
                <a:spcPct val="115000"/>
              </a:lnSpc>
            </a:pPr>
            <a:r>
              <a:rPr lang="en-US" sz="1400" dirty="0" err="1">
                <a:solidFill>
                  <a:srgbClr val="006600"/>
                </a:solidFill>
                <a:latin typeface="Verdana" panose="020B0604030504040204"/>
                <a:ea typeface="Times New Roman" panose="02020603050405020304"/>
                <a:cs typeface="Arial" panose="020B0604020202020204"/>
              </a:rPr>
              <a:t>Sree</a:t>
            </a:r>
            <a:r>
              <a:rPr lang="en-US" sz="1400" dirty="0">
                <a:solidFill>
                  <a:srgbClr val="006600"/>
                </a:solidFill>
                <a:latin typeface="Verdana" panose="020B0604030504040204"/>
                <a:ea typeface="Times New Roman" panose="02020603050405020304"/>
                <a:cs typeface="Arial" panose="020B0604020202020204"/>
              </a:rPr>
              <a:t> </a:t>
            </a:r>
            <a:r>
              <a:rPr lang="en-US" sz="1400" dirty="0" err="1">
                <a:solidFill>
                  <a:srgbClr val="006600"/>
                </a:solidFill>
                <a:latin typeface="Verdana" panose="020B0604030504040204"/>
                <a:ea typeface="Times New Roman" panose="02020603050405020304"/>
                <a:cs typeface="Arial" panose="020B0604020202020204"/>
              </a:rPr>
              <a:t>Sainath</a:t>
            </a:r>
            <a:r>
              <a:rPr lang="en-US" sz="1400" dirty="0">
                <a:solidFill>
                  <a:srgbClr val="006600"/>
                </a:solidFill>
                <a:latin typeface="Verdana" panose="020B0604030504040204"/>
                <a:ea typeface="Times New Roman" panose="02020603050405020304"/>
                <a:cs typeface="Arial" panose="020B0604020202020204"/>
              </a:rPr>
              <a:t> Nagar, A. </a:t>
            </a:r>
            <a:r>
              <a:rPr lang="en-US" sz="1400" dirty="0" err="1">
                <a:solidFill>
                  <a:srgbClr val="006600"/>
                </a:solidFill>
                <a:latin typeface="Verdana" panose="020B0604030504040204"/>
                <a:ea typeface="Times New Roman" panose="02020603050405020304"/>
                <a:cs typeface="Arial" panose="020B0604020202020204"/>
              </a:rPr>
              <a:t>Rangampet</a:t>
            </a:r>
            <a:r>
              <a:rPr lang="en-US" sz="1400" dirty="0">
                <a:solidFill>
                  <a:srgbClr val="006600"/>
                </a:solidFill>
                <a:latin typeface="Verdana" panose="020B0604030504040204"/>
                <a:ea typeface="Times New Roman" panose="02020603050405020304"/>
                <a:cs typeface="Arial" panose="020B0604020202020204"/>
              </a:rPr>
              <a:t>, Tirupati – 517 102 </a:t>
            </a:r>
          </a:p>
          <a:p>
            <a:pPr algn="ctr">
              <a:lnSpc>
                <a:spcPct val="115000"/>
              </a:lnSpc>
            </a:pPr>
            <a:r>
              <a:rPr lang="en-US" sz="1600" b="1" dirty="0">
                <a:solidFill>
                  <a:srgbClr val="0000CC"/>
                </a:solidFill>
                <a:latin typeface="Verdana" panose="020B0604030504040204"/>
                <a:cs typeface="Arial" panose="020B0604020202020204"/>
              </a:rPr>
              <a:t>2026-2027</a:t>
            </a:r>
            <a:endParaRPr lang="en-US" sz="3200" b="1" dirty="0">
              <a:solidFill>
                <a:srgbClr val="0000CC"/>
              </a:solidFill>
              <a:latin typeface="Tahoma" panose="020B0604030504040204" pitchFamily="34" charset="0"/>
            </a:endParaRPr>
          </a:p>
        </p:txBody>
      </p:sp>
      <p:sp>
        <p:nvSpPr>
          <p:cNvPr id="7" name="Rectangle 2"/>
          <p:cNvSpPr>
            <a:spLocks noGrp="1" noChangeArrowheads="1"/>
          </p:cNvSpPr>
          <p:nvPr>
            <p:ph type="ctrTitle" sz="quarter"/>
          </p:nvPr>
        </p:nvSpPr>
        <p:spPr>
          <a:xfrm>
            <a:off x="381000" y="276197"/>
            <a:ext cx="8153400" cy="984622"/>
          </a:xfrm>
        </p:spPr>
        <p:txBody>
          <a:bodyPr>
            <a:normAutofit/>
          </a:bodyPr>
          <a:lstStyle/>
          <a:p>
            <a:r>
              <a:rPr dirty="0"/>
              <a:t>Java Full Stack Web Development</a:t>
            </a:r>
          </a:p>
        </p:txBody>
      </p:sp>
      <p:sp>
        <p:nvSpPr>
          <p:cNvPr id="2" name="Rectangle 2"/>
          <p:cNvSpPr txBox="1">
            <a:spLocks noChangeArrowheads="1"/>
          </p:cNvSpPr>
          <p:nvPr/>
        </p:nvSpPr>
        <p:spPr>
          <a:xfrm>
            <a:off x="228600" y="673296"/>
            <a:ext cx="4724400" cy="2908104"/>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sz="1800" dirty="0"/>
          </a:p>
        </p:txBody>
      </p:sp>
      <p:sp>
        <p:nvSpPr>
          <p:cNvPr id="5" name="TextBox 4"/>
          <p:cNvSpPr txBox="1"/>
          <p:nvPr/>
        </p:nvSpPr>
        <p:spPr>
          <a:xfrm>
            <a:off x="1981200" y="2362200"/>
            <a:ext cx="5181600" cy="1384995"/>
          </a:xfrm>
          <a:prstGeom prst="rect">
            <a:avLst/>
          </a:prstGeom>
          <a:noFill/>
        </p:spPr>
        <p:txBody>
          <a:bodyPr wrap="square">
            <a:spAutoFit/>
          </a:bodyPr>
          <a:lstStyle/>
          <a:p>
            <a:pPr algn="ctr"/>
            <a:r>
              <a:rPr lang="en-US" sz="2200" kern="0" dirty="0">
                <a:latin typeface="Tw Cen MT" panose="020B0602020104020603" pitchFamily="34" charset="0"/>
                <a:ea typeface="Times New Roman" panose="02020603050405020304" pitchFamily="18" charset="0"/>
                <a:cs typeface="Times New Roman" panose="02020603050405020304" pitchFamily="18" charset="0"/>
              </a:rPr>
              <a:t>Under</a:t>
            </a:r>
            <a:r>
              <a:rPr lang="en-US" sz="2200" kern="0" spc="-15" dirty="0">
                <a:latin typeface="Tw Cen MT" panose="020B0602020104020603" pitchFamily="34" charset="0"/>
                <a:ea typeface="Times New Roman" panose="02020603050405020304" pitchFamily="18" charset="0"/>
                <a:cs typeface="Times New Roman" panose="02020603050405020304" pitchFamily="18" charset="0"/>
              </a:rPr>
              <a:t> </a:t>
            </a:r>
            <a:r>
              <a:rPr lang="en-US" sz="2200" kern="0" dirty="0">
                <a:latin typeface="Tw Cen MT" panose="020B0602020104020603" pitchFamily="34" charset="0"/>
                <a:ea typeface="Times New Roman" panose="02020603050405020304" pitchFamily="18" charset="0"/>
                <a:cs typeface="Times New Roman" panose="02020603050405020304" pitchFamily="18" charset="0"/>
              </a:rPr>
              <a:t>the</a:t>
            </a:r>
            <a:r>
              <a:rPr lang="en-US" sz="2200" kern="0" spc="-25" dirty="0">
                <a:latin typeface="Tw Cen MT" panose="020B0602020104020603" pitchFamily="34" charset="0"/>
                <a:ea typeface="Times New Roman" panose="02020603050405020304" pitchFamily="18" charset="0"/>
                <a:cs typeface="Times New Roman" panose="02020603050405020304" pitchFamily="18" charset="0"/>
              </a:rPr>
              <a:t> </a:t>
            </a:r>
            <a:r>
              <a:rPr lang="en-US" sz="2200" kern="0" dirty="0">
                <a:latin typeface="Tw Cen MT" panose="020B0602020104020603" pitchFamily="34" charset="0"/>
                <a:ea typeface="Times New Roman" panose="02020603050405020304" pitchFamily="18" charset="0"/>
                <a:cs typeface="Times New Roman" panose="02020603050405020304" pitchFamily="18" charset="0"/>
              </a:rPr>
              <a:t>Guidance</a:t>
            </a:r>
            <a:r>
              <a:rPr lang="en-US" sz="2200" kern="0" spc="-20" dirty="0">
                <a:latin typeface="Tw Cen MT" panose="020B0602020104020603" pitchFamily="34" charset="0"/>
                <a:ea typeface="Times New Roman" panose="02020603050405020304" pitchFamily="18" charset="0"/>
                <a:cs typeface="Times New Roman" panose="02020603050405020304" pitchFamily="18" charset="0"/>
              </a:rPr>
              <a:t> </a:t>
            </a:r>
            <a:r>
              <a:rPr lang="en-US" sz="2200" kern="0" dirty="0">
                <a:latin typeface="Tw Cen MT" panose="020B0602020104020603" pitchFamily="34" charset="0"/>
                <a:ea typeface="Times New Roman" panose="02020603050405020304" pitchFamily="18" charset="0"/>
                <a:cs typeface="Times New Roman" panose="02020603050405020304" pitchFamily="18" charset="0"/>
              </a:rPr>
              <a:t>of</a:t>
            </a:r>
            <a:endParaRPr lang="en-IN" sz="2200" kern="100" dirty="0">
              <a:latin typeface="Tw Cen MT" panose="020B0602020104020603" pitchFamily="34" charset="0"/>
              <a:ea typeface="Calibri" panose="020F0502020204030204" pitchFamily="34" charset="0"/>
              <a:cs typeface="Times New Roman" panose="02020603050405020304" pitchFamily="18" charset="0"/>
            </a:endParaRPr>
          </a:p>
          <a:p>
            <a:pPr algn="ctr"/>
            <a:r>
              <a:rPr lang="en-US" sz="2200" b="1" kern="0" dirty="0">
                <a:latin typeface="Verdana" panose="020B0604030504040204" pitchFamily="34" charset="0"/>
                <a:ea typeface="Verdana" panose="020B0604030504040204" pitchFamily="34" charset="0"/>
                <a:cs typeface="Times New Roman" panose="02020603050405020304" pitchFamily="18" charset="0"/>
              </a:rPr>
              <a:t>Ms. </a:t>
            </a:r>
            <a:r>
              <a:rPr lang="en-US" sz="2200" b="1" kern="0" dirty="0" err="1">
                <a:latin typeface="Verdana" panose="020B0604030504040204" pitchFamily="34" charset="0"/>
                <a:ea typeface="Verdana" panose="020B0604030504040204" pitchFamily="34" charset="0"/>
                <a:cs typeface="Times New Roman" panose="02020603050405020304" pitchFamily="18" charset="0"/>
              </a:rPr>
              <a:t>I.Sravani</a:t>
            </a:r>
            <a:endParaRPr lang="en-IN" sz="2200" kern="100" dirty="0">
              <a:highlight>
                <a:srgbClr val="FFFF00"/>
              </a:highlight>
              <a:latin typeface="Verdana" panose="020B0604030504040204" pitchFamily="34" charset="0"/>
              <a:ea typeface="Verdana" panose="020B0604030504040204" pitchFamily="34" charset="0"/>
              <a:cs typeface="Times New Roman" panose="02020603050405020304" pitchFamily="18" charset="0"/>
            </a:endParaRPr>
          </a:p>
          <a:p>
            <a:pPr algn="ctr"/>
            <a:r>
              <a:rPr lang="en-US" sz="2200" kern="0" dirty="0">
                <a:latin typeface="Tw Cen MT" panose="020B0602020104020603" pitchFamily="34" charset="0"/>
                <a:ea typeface="Times New Roman" panose="02020603050405020304" pitchFamily="18" charset="0"/>
                <a:cs typeface="Times New Roman" panose="02020603050405020304" pitchFamily="18" charset="0"/>
              </a:rPr>
              <a:t>Assistant </a:t>
            </a:r>
            <a:r>
              <a:rPr lang="en-US" sz="2200" kern="0" dirty="0" err="1">
                <a:latin typeface="Tw Cen MT" panose="020B0602020104020603" pitchFamily="34" charset="0"/>
                <a:ea typeface="Times New Roman" panose="02020603050405020304" pitchFamily="18" charset="0"/>
                <a:cs typeface="Times New Roman" panose="02020603050405020304" pitchFamily="18" charset="0"/>
              </a:rPr>
              <a:t>Professor,CSE</a:t>
            </a:r>
            <a:endParaRPr lang="en-IN" sz="2200" kern="100" dirty="0">
              <a:latin typeface="Tw Cen MT" panose="020B0602020104020603" pitchFamily="34" charset="0"/>
              <a:ea typeface="Calibri" panose="020F0502020204030204" pitchFamily="34" charset="0"/>
              <a:cs typeface="Times New Roman" panose="02020603050405020304" pitchFamily="18" charset="0"/>
            </a:endParaRPr>
          </a:p>
          <a:p>
            <a:endParaRPr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00793" y="4030980"/>
            <a:ext cx="1542415" cy="845820"/>
          </a:xfrm>
          <a:prstGeom prst="rect">
            <a:avLst/>
          </a:prstGeom>
          <a:noFill/>
        </p:spPr>
      </p:pic>
      <p:sp>
        <p:nvSpPr>
          <p:cNvPr id="8" name="TextBox 7">
            <a:extLst>
              <a:ext uri="{FF2B5EF4-FFF2-40B4-BE49-F238E27FC236}">
                <a16:creationId xmlns:a16="http://schemas.microsoft.com/office/drawing/2014/main" id="{04E0E4C7-7361-A6AC-9407-6858A1B6B4F3}"/>
              </a:ext>
            </a:extLst>
          </p:cNvPr>
          <p:cNvSpPr txBox="1"/>
          <p:nvPr/>
        </p:nvSpPr>
        <p:spPr>
          <a:xfrm>
            <a:off x="762000" y="1217086"/>
            <a:ext cx="7391400" cy="400110"/>
          </a:xfrm>
          <a:prstGeom prst="rect">
            <a:avLst/>
          </a:prstGeom>
          <a:noFill/>
        </p:spPr>
        <p:txBody>
          <a:bodyPr wrap="square">
            <a:spAutoFit/>
          </a:bodyPr>
          <a:lstStyle/>
          <a:p>
            <a:pPr algn="ctr"/>
            <a:r>
              <a:rPr lang="en-IN" sz="2000" b="1" dirty="0"/>
              <a:t>KAYAM SUDHARSHAN REDDY			24302A040005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3" name="Content Placeholder 2"/>
          <p:cNvSpPr>
            <a:spLocks noGrp="1"/>
          </p:cNvSpPr>
          <p:nvPr>
            <p:ph idx="1"/>
          </p:nvPr>
        </p:nvSpPr>
        <p:spPr>
          <a:xfrm>
            <a:off x="533400" y="955125"/>
            <a:ext cx="8229600" cy="4983163"/>
          </a:xfrm>
        </p:spPr>
        <p:txBody>
          <a:bodyPr>
            <a:normAutofit/>
          </a:bodyPr>
          <a:lstStyle/>
          <a:p>
            <a:r>
              <a:rPr dirty="0"/>
              <a:t>Internship Completion Certificate</a:t>
            </a:r>
          </a:p>
          <a:p>
            <a:r>
              <a:rPr dirty="0"/>
              <a:t>Abstract</a:t>
            </a:r>
          </a:p>
          <a:p>
            <a:r>
              <a:rPr dirty="0"/>
              <a:t>Introduction</a:t>
            </a:r>
          </a:p>
          <a:p>
            <a:r>
              <a:rPr dirty="0"/>
              <a:t>  </a:t>
            </a:r>
            <a:r>
              <a:rPr lang="en-IN" dirty="0"/>
              <a:t>  </a:t>
            </a:r>
            <a:r>
              <a:rPr dirty="0"/>
              <a:t>3.1 Description of the Company</a:t>
            </a:r>
          </a:p>
          <a:p>
            <a:r>
              <a:rPr dirty="0"/>
              <a:t>    3.2 Overview of the Project</a:t>
            </a:r>
          </a:p>
          <a:p>
            <a:r>
              <a:rPr dirty="0"/>
              <a:t>    3.3 Technology Stack</a:t>
            </a:r>
          </a:p>
          <a:p>
            <a:r>
              <a:rPr dirty="0"/>
              <a:t>Summary of Experience</a:t>
            </a:r>
          </a:p>
          <a:p>
            <a:r>
              <a:rPr dirty="0"/>
              <a:t>Reflection on Learning</a:t>
            </a:r>
          </a:p>
          <a:p>
            <a:r>
              <a:rPr dirty="0"/>
              <a:t>Conclusion</a:t>
            </a:r>
          </a:p>
          <a:p>
            <a:pPr marL="0" indent="0">
              <a:buNone/>
            </a:pPr>
            <a:endParaRPr lang="en-US" dirty="0"/>
          </a:p>
        </p:txBody>
      </p:sp>
      <p:sp>
        <p:nvSpPr>
          <p:cNvPr id="4" name="Slide Number Placeholder 3"/>
          <p:cNvSpPr>
            <a:spLocks noGrp="1"/>
          </p:cNvSpPr>
          <p:nvPr>
            <p:ph type="sldNum" sz="quarter" idx="12"/>
          </p:nvPr>
        </p:nvSpPr>
        <p:spPr/>
        <p:txBody>
          <a:bodyPr/>
          <a:lstStyle/>
          <a:p>
            <a:fld id="{B03FF234-8176-4A77-8F9A-3A491C5D5CBE}" type="slidenum">
              <a:rPr lang="en-IN" smtClean="0"/>
              <a:t>2</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1. Internship Completion Certificate</a:t>
            </a:r>
          </a:p>
        </p:txBody>
      </p:sp>
      <p:sp>
        <p:nvSpPr>
          <p:cNvPr id="4" name="Slide Number Placeholder 3"/>
          <p:cNvSpPr>
            <a:spLocks noGrp="1"/>
          </p:cNvSpPr>
          <p:nvPr>
            <p:ph type="sldNum" sz="quarter" idx="12"/>
          </p:nvPr>
        </p:nvSpPr>
        <p:spPr/>
        <p:txBody>
          <a:bodyPr/>
          <a:lstStyle/>
          <a:p>
            <a:fld id="{B03FF234-8176-4A77-8F9A-3A491C5D5CBE}" type="slidenum">
              <a:rPr lang="en-IN" smtClean="0"/>
              <a:t>3</a:t>
            </a:fld>
            <a:endParaRPr lang="en-IN" dirty="0"/>
          </a:p>
        </p:txBody>
      </p:sp>
      <p:pic>
        <p:nvPicPr>
          <p:cNvPr id="5" name="Picture 4">
            <a:extLst>
              <a:ext uri="{FF2B5EF4-FFF2-40B4-BE49-F238E27FC236}">
                <a16:creationId xmlns:a16="http://schemas.microsoft.com/office/drawing/2014/main" id="{89CD388C-81E7-D544-83FD-88C548961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934762"/>
            <a:ext cx="7772400" cy="4988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Abstract</a:t>
            </a:r>
          </a:p>
        </p:txBody>
      </p:sp>
      <p:sp>
        <p:nvSpPr>
          <p:cNvPr id="4" name="Slide Number Placeholder 3"/>
          <p:cNvSpPr>
            <a:spLocks noGrp="1"/>
          </p:cNvSpPr>
          <p:nvPr>
            <p:ph type="sldNum" sz="quarter" idx="12"/>
          </p:nvPr>
        </p:nvSpPr>
        <p:spPr/>
        <p:txBody>
          <a:bodyPr/>
          <a:lstStyle/>
          <a:p>
            <a:fld id="{B03FF234-8176-4A77-8F9A-3A491C5D5CBE}" type="slidenum">
              <a:rPr lang="en-IN" smtClean="0"/>
              <a:t>4</a:t>
            </a:fld>
            <a:endParaRPr lang="en-IN" dirty="0"/>
          </a:p>
        </p:txBody>
      </p:sp>
      <p:sp>
        <p:nvSpPr>
          <p:cNvPr id="102" name="Box 102"/>
          <p:cNvSpPr txBox="1"/>
          <p:nvPr/>
        </p:nvSpPr>
        <p:spPr>
          <a:xfrm>
            <a:off x="548640" y="1143000"/>
            <a:ext cx="8046720" cy="3017520"/>
          </a:xfrm>
          <a:prstGeom prst="rect">
            <a:avLst/>
          </a:prstGeom>
          <a:noFill/>
          <a:ln>
            <a:noFill/>
          </a:ln>
        </p:spPr>
        <p:txBody>
          <a:bodyPr wrap="square" lIns="91440" tIns="91440" rIns="91440" bIns="91440" anchor="t">
            <a:noAutofit/>
          </a:bodyPr>
          <a:lstStyle/>
          <a:p>
            <a:r>
              <a:t>The four-week internship in Java Full Stack Web Development at CodTech IT Solutions Private Limited was conducted from 15 July 2026 to 12 August 2026. It focused on designing and implementing an enterprise-style web application using Java and modern web technologies.</a:t>
            </a:r>
          </a:p>
          <a:p>
            <a:r>
              <a:t>The learning scope included Core Java and object-oriented programming, Spring Boot, RESTful APIs, Spring Data JPA/Hibernate, relational database design, frontend development, Git/GitHub, Maven, and API testing with Postman.</a:t>
            </a:r>
          </a:p>
          <a:p>
            <a:r>
              <a:t>The internship provided practical exposure to multi-tier application architecture, frontend-backend integration, data persistence, debugging, testing, and structured software development practices.</a:t>
            </a:r>
          </a:p>
        </p:txBody>
      </p:sp>
      <p:sp>
        <p:nvSpPr>
          <p:cNvPr id="103" name="Box 103"/>
          <p:cNvSpPr txBox="1"/>
          <p:nvPr/>
        </p:nvSpPr>
        <p:spPr>
          <a:xfrm>
            <a:off x="548640" y="4297680"/>
            <a:ext cx="1828800" cy="1234440"/>
          </a:xfrm>
          <a:prstGeom prst="roundRect">
            <a:avLst>
              <a:gd name="adj" fmla="val 8000"/>
            </a:avLst>
          </a:prstGeom>
          <a:solidFill>
            <a:srgbClr val="E8F4EC"/>
          </a:solidFill>
          <a:ln>
            <a:noFill/>
          </a:ln>
        </p:spPr>
        <p:txBody>
          <a:bodyPr wrap="square" lIns="91440" tIns="91440" rIns="91440" bIns="91440" anchor="ctr">
            <a:noAutofit/>
          </a:bodyPr>
          <a:lstStyle/>
          <a:p>
            <a:pPr algn="ctr"/>
            <a:r>
              <a:rPr sz="2600" b="1" dirty="0">
                <a:solidFill>
                  <a:srgbClr val="007434"/>
                </a:solidFill>
                <a:latin typeface="Tahoma" panose="020B0604030504040204" pitchFamily="34" charset="0"/>
                <a:ea typeface="Tahoma" panose="020B0604030504040204" pitchFamily="34" charset="0"/>
                <a:cs typeface="Tahoma" panose="020B0604030504040204" pitchFamily="34" charset="0"/>
              </a:rPr>
              <a:t>4</a:t>
            </a:r>
          </a:p>
          <a:p>
            <a:pPr algn="ctr"/>
            <a:r>
              <a:rPr sz="1100" dirty="0">
                <a:latin typeface="Tahoma" panose="020B0604030504040204" pitchFamily="34" charset="0"/>
                <a:ea typeface="Tahoma" panose="020B0604030504040204" pitchFamily="34" charset="0"/>
                <a:cs typeface="Tahoma" panose="020B0604030504040204" pitchFamily="34" charset="0"/>
              </a:rPr>
              <a:t>Weeks</a:t>
            </a:r>
          </a:p>
        </p:txBody>
      </p:sp>
      <p:sp>
        <p:nvSpPr>
          <p:cNvPr id="104" name="Box 104"/>
          <p:cNvSpPr txBox="1"/>
          <p:nvPr/>
        </p:nvSpPr>
        <p:spPr>
          <a:xfrm>
            <a:off x="2560320" y="4297680"/>
            <a:ext cx="1828800" cy="1234440"/>
          </a:xfrm>
          <a:prstGeom prst="roundRect">
            <a:avLst>
              <a:gd name="adj" fmla="val 8000"/>
            </a:avLst>
          </a:prstGeom>
          <a:solidFill>
            <a:srgbClr val="E8F4EC"/>
          </a:solidFill>
          <a:ln>
            <a:noFill/>
          </a:ln>
        </p:spPr>
        <p:txBody>
          <a:bodyPr wrap="square" lIns="91440" tIns="91440" rIns="91440" bIns="91440" anchor="ctr">
            <a:noAutofit/>
          </a:bodyPr>
          <a:lstStyle/>
          <a:p>
            <a:pPr algn="ctr"/>
            <a:r>
              <a:rPr lang="en-US" sz="2300" b="1" dirty="0">
                <a:solidFill>
                  <a:srgbClr val="007434"/>
                </a:solidFill>
                <a:latin typeface="Tahoma" panose="020B0604030504040204" pitchFamily="34" charset="0"/>
                <a:ea typeface="Tahoma" panose="020B0604030504040204" pitchFamily="34" charset="0"/>
                <a:cs typeface="Tahoma" panose="020B0604030504040204" pitchFamily="34" charset="0"/>
              </a:rPr>
              <a:t>120</a:t>
            </a:r>
          </a:p>
          <a:p>
            <a:pPr algn="ctr"/>
            <a:r>
              <a:rPr lang="en-US" sz="1100" dirty="0">
                <a:latin typeface="Tahoma" panose="020B0604030504040204" pitchFamily="34" charset="0"/>
                <a:ea typeface="Tahoma" panose="020B0604030504040204" pitchFamily="34" charset="0"/>
                <a:cs typeface="Tahoma" panose="020B0604030504040204" pitchFamily="34" charset="0"/>
              </a:rPr>
              <a:t>Hours</a:t>
            </a:r>
            <a:endParaRPr sz="1100" dirty="0">
              <a:latin typeface="Tahoma" panose="020B0604030504040204" pitchFamily="34" charset="0"/>
              <a:ea typeface="Tahoma" panose="020B0604030504040204" pitchFamily="34" charset="0"/>
              <a:cs typeface="Tahoma" panose="020B0604030504040204" pitchFamily="34" charset="0"/>
            </a:endParaRPr>
          </a:p>
        </p:txBody>
      </p:sp>
      <p:sp>
        <p:nvSpPr>
          <p:cNvPr id="105" name="Box 105"/>
          <p:cNvSpPr txBox="1"/>
          <p:nvPr/>
        </p:nvSpPr>
        <p:spPr>
          <a:xfrm>
            <a:off x="4572000" y="4297680"/>
            <a:ext cx="1828800" cy="1234440"/>
          </a:xfrm>
          <a:prstGeom prst="roundRect">
            <a:avLst>
              <a:gd name="adj" fmla="val 8000"/>
            </a:avLst>
          </a:prstGeom>
          <a:solidFill>
            <a:srgbClr val="E8F4EC"/>
          </a:solidFill>
          <a:ln>
            <a:noFill/>
          </a:ln>
        </p:spPr>
        <p:txBody>
          <a:bodyPr wrap="square" lIns="91440" tIns="91440" rIns="91440" bIns="91440" anchor="ctr">
            <a:noAutofit/>
          </a:bodyPr>
          <a:lstStyle/>
          <a:p>
            <a:pPr algn="ctr"/>
            <a:r>
              <a:rPr lang="en-US" sz="2600" b="1" dirty="0">
                <a:solidFill>
                  <a:srgbClr val="007434"/>
                </a:solidFill>
                <a:latin typeface="Tahoma" panose="020B0604030504040204"/>
                <a:cs typeface="Tahoma" panose="020B0604030504040204"/>
              </a:rPr>
              <a:t>6</a:t>
            </a:r>
          </a:p>
          <a:p>
            <a:pPr algn="ctr"/>
            <a:r>
              <a:rPr lang="en-US" sz="1100" dirty="0">
                <a:solidFill>
                  <a:srgbClr val="555555"/>
                </a:solidFill>
                <a:latin typeface="Tahoma" panose="020B0604030504040204"/>
                <a:cs typeface="Tahoma" panose="020B0604030504040204"/>
              </a:rPr>
              <a:t>Learning objectives met</a:t>
            </a:r>
          </a:p>
          <a:p>
            <a:endParaRPr dirty="0"/>
          </a:p>
        </p:txBody>
      </p:sp>
      <p:sp>
        <p:nvSpPr>
          <p:cNvPr id="106" name="Box 106"/>
          <p:cNvSpPr txBox="1"/>
          <p:nvPr/>
        </p:nvSpPr>
        <p:spPr>
          <a:xfrm>
            <a:off x="6583680" y="4297680"/>
            <a:ext cx="1828800" cy="1234440"/>
          </a:xfrm>
          <a:prstGeom prst="roundRect">
            <a:avLst>
              <a:gd name="adj" fmla="val 8000"/>
            </a:avLst>
          </a:prstGeom>
          <a:solidFill>
            <a:srgbClr val="E8F4EC"/>
          </a:solidFill>
          <a:ln>
            <a:noFill/>
          </a:ln>
        </p:spPr>
        <p:txBody>
          <a:bodyPr wrap="square" lIns="91440" tIns="91440" rIns="91440" bIns="91440" anchor="ctr">
            <a:noAutofit/>
          </a:bodyPr>
          <a:lstStyle/>
          <a:p>
            <a:pPr marL="0" indent="0" algn="ctr">
              <a:lnSpc>
                <a:spcPct val="100000"/>
              </a:lnSpc>
              <a:spcAft>
                <a:spcPts val="0"/>
              </a:spcAft>
              <a:buNone/>
            </a:pPr>
            <a:r>
              <a:rPr lang="en-US" sz="2600" b="1" dirty="0">
                <a:solidFill>
                  <a:srgbClr val="007434"/>
                </a:solidFill>
                <a:latin typeface="Tahoma" panose="020B0604030504040204"/>
                <a:cs typeface="Tahoma" panose="020B0604030504040204"/>
              </a:rPr>
              <a:t>4.7 / 5</a:t>
            </a:r>
          </a:p>
          <a:p>
            <a:pPr marL="0" indent="0" algn="ctr">
              <a:lnSpc>
                <a:spcPct val="100000"/>
              </a:lnSpc>
              <a:spcAft>
                <a:spcPts val="0"/>
              </a:spcAft>
              <a:buNone/>
            </a:pPr>
            <a:r>
              <a:rPr lang="en-US" sz="1100" dirty="0">
                <a:solidFill>
                  <a:srgbClr val="555555"/>
                </a:solidFill>
                <a:latin typeface="Tahoma" panose="020B0604030504040204"/>
                <a:cs typeface="Tahoma" panose="020B0604030504040204"/>
              </a:rPr>
              <a:t>Performance: Excellent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Introduction</a:t>
            </a:r>
          </a:p>
        </p:txBody>
      </p:sp>
      <p:sp>
        <p:nvSpPr>
          <p:cNvPr id="4" name="Slide Number Placeholder 3"/>
          <p:cNvSpPr>
            <a:spLocks noGrp="1"/>
          </p:cNvSpPr>
          <p:nvPr>
            <p:ph type="sldNum" sz="quarter" idx="12"/>
          </p:nvPr>
        </p:nvSpPr>
        <p:spPr/>
        <p:txBody>
          <a:bodyPr/>
          <a:lstStyle/>
          <a:p>
            <a:fld id="{B03FF234-8176-4A77-8F9A-3A491C5D5CBE}" type="slidenum">
              <a:rPr lang="en-IN" smtClean="0"/>
              <a:t>5</a:t>
            </a:fld>
            <a:endParaRPr lang="en-IN" dirty="0"/>
          </a:p>
        </p:txBody>
      </p:sp>
      <p:sp>
        <p:nvSpPr>
          <p:cNvPr id="107" name="Box 107"/>
          <p:cNvSpPr txBox="1"/>
          <p:nvPr/>
        </p:nvSpPr>
        <p:spPr>
          <a:xfrm>
            <a:off x="548640" y="1143000"/>
            <a:ext cx="3383280" cy="960120"/>
          </a:xfrm>
          <a:prstGeom prst="roundRect">
            <a:avLst>
              <a:gd name="adj" fmla="val 8000"/>
            </a:avLst>
          </a:prstGeom>
          <a:solidFill>
            <a:srgbClr val="E8F4EC"/>
          </a:solidFill>
          <a:ln>
            <a:noFill/>
          </a:ln>
        </p:spPr>
        <p:txBody>
          <a:bodyPr wrap="square" lIns="128016" tIns="128016" rIns="128016" bIns="128016" anchor="ctr">
            <a:noAutofit/>
          </a:bodyPr>
          <a:lstStyle/>
          <a:p>
            <a:r>
              <a:rPr dirty="0"/>
              <a:t>Internship Title</a:t>
            </a:r>
          </a:p>
          <a:p>
            <a:r>
              <a:rPr dirty="0"/>
              <a:t>Java Full Stack Web Development</a:t>
            </a:r>
          </a:p>
        </p:txBody>
      </p:sp>
      <p:sp>
        <p:nvSpPr>
          <p:cNvPr id="108" name="Box 108"/>
          <p:cNvSpPr txBox="1"/>
          <p:nvPr/>
        </p:nvSpPr>
        <p:spPr>
          <a:xfrm>
            <a:off x="548640" y="2240280"/>
            <a:ext cx="3383280" cy="960120"/>
          </a:xfrm>
          <a:prstGeom prst="roundRect">
            <a:avLst>
              <a:gd name="adj" fmla="val 8000"/>
            </a:avLst>
          </a:prstGeom>
          <a:solidFill>
            <a:srgbClr val="E8F4EC"/>
          </a:solidFill>
          <a:ln>
            <a:noFill/>
          </a:ln>
        </p:spPr>
        <p:txBody>
          <a:bodyPr wrap="square" lIns="128016" tIns="128016" rIns="128016" bIns="128016" anchor="ctr">
            <a:noAutofit/>
          </a:bodyPr>
          <a:lstStyle/>
          <a:p>
            <a:r>
              <a:rPr dirty="0"/>
              <a:t>Organization</a:t>
            </a:r>
          </a:p>
          <a:p>
            <a:r>
              <a:rPr dirty="0" err="1"/>
              <a:t>CodTech</a:t>
            </a:r>
            <a:r>
              <a:rPr dirty="0"/>
              <a:t> IT Solutions Private Limited, Telangana, India</a:t>
            </a:r>
          </a:p>
        </p:txBody>
      </p:sp>
      <p:sp>
        <p:nvSpPr>
          <p:cNvPr id="109" name="Box 109"/>
          <p:cNvSpPr txBox="1"/>
          <p:nvPr/>
        </p:nvSpPr>
        <p:spPr>
          <a:xfrm>
            <a:off x="548640" y="3337560"/>
            <a:ext cx="3383280" cy="960120"/>
          </a:xfrm>
          <a:prstGeom prst="roundRect">
            <a:avLst>
              <a:gd name="adj" fmla="val 8000"/>
            </a:avLst>
          </a:prstGeom>
          <a:solidFill>
            <a:srgbClr val="E8F4EC"/>
          </a:solidFill>
          <a:ln>
            <a:noFill/>
          </a:ln>
        </p:spPr>
        <p:txBody>
          <a:bodyPr wrap="square" lIns="128016" tIns="128016" rIns="128016" bIns="128016" anchor="ctr">
            <a:noAutofit/>
          </a:bodyPr>
          <a:lstStyle/>
          <a:p>
            <a:pPr marL="0" indent="0" algn="l">
              <a:lnSpc>
                <a:spcPct val="100000"/>
              </a:lnSpc>
              <a:spcAft>
                <a:spcPts val="200"/>
              </a:spcAft>
              <a:buNone/>
            </a:pPr>
            <a:r>
              <a:rPr lang="en-US" sz="1100" b="1" dirty="0">
                <a:solidFill>
                  <a:srgbClr val="007434"/>
                </a:solidFill>
                <a:latin typeface="Tahoma" panose="020B0604030504040204"/>
                <a:cs typeface="Tahoma" panose="020B0604030504040204"/>
              </a:rPr>
              <a:t>Duration</a:t>
            </a:r>
          </a:p>
          <a:p>
            <a:pPr marL="0" indent="0" algn="l">
              <a:lnSpc>
                <a:spcPct val="100000"/>
              </a:lnSpc>
              <a:spcAft>
                <a:spcPts val="0"/>
              </a:spcAft>
              <a:buNone/>
            </a:pPr>
            <a:r>
              <a:rPr lang="en-US" sz="1300" dirty="0">
                <a:solidFill>
                  <a:srgbClr val="1F1F1F"/>
                </a:solidFill>
                <a:latin typeface="Tahoma" panose="020B0604030504040204"/>
                <a:cs typeface="Tahoma" panose="020B0604030504040204"/>
              </a:rPr>
              <a:t>4 Weeks | 240 Hours</a:t>
            </a:r>
          </a:p>
        </p:txBody>
      </p:sp>
      <p:sp>
        <p:nvSpPr>
          <p:cNvPr id="110" name="Box 110"/>
          <p:cNvSpPr txBox="1"/>
          <p:nvPr/>
        </p:nvSpPr>
        <p:spPr>
          <a:xfrm>
            <a:off x="548640" y="4434840"/>
            <a:ext cx="3383280" cy="960120"/>
          </a:xfrm>
          <a:prstGeom prst="roundRect">
            <a:avLst>
              <a:gd name="adj" fmla="val 8000"/>
            </a:avLst>
          </a:prstGeom>
          <a:solidFill>
            <a:srgbClr val="E8F4EC"/>
          </a:solidFill>
          <a:ln>
            <a:noFill/>
          </a:ln>
        </p:spPr>
        <p:txBody>
          <a:bodyPr wrap="square" lIns="128016" tIns="128016" rIns="128016" bIns="128016" anchor="ctr">
            <a:noAutofit/>
          </a:bodyPr>
          <a:lstStyle/>
          <a:p>
            <a:r>
              <a:t>Industry Guide</a:t>
            </a:r>
          </a:p>
          <a:p>
            <a:r>
              <a:t>Internship focus: Enterprise Java Full Stack Web Application</a:t>
            </a:r>
          </a:p>
        </p:txBody>
      </p:sp>
      <p:sp>
        <p:nvSpPr>
          <p:cNvPr id="111" name="Box 111"/>
          <p:cNvSpPr txBox="1"/>
          <p:nvPr/>
        </p:nvSpPr>
        <p:spPr>
          <a:xfrm>
            <a:off x="4206240" y="1097280"/>
            <a:ext cx="4389120" cy="411480"/>
          </a:xfrm>
          <a:prstGeom prst="rect">
            <a:avLst/>
          </a:prstGeom>
          <a:noFill/>
          <a:ln>
            <a:noFill/>
          </a:ln>
        </p:spPr>
        <p:txBody>
          <a:bodyPr wrap="square" lIns="45720" tIns="45720" rIns="45720" bIns="45720" anchor="t">
            <a:noAutofit/>
          </a:bodyPr>
          <a:lstStyle/>
          <a:p>
            <a:pPr marL="0" indent="0" algn="l">
              <a:lnSpc>
                <a:spcPct val="100000"/>
              </a:lnSpc>
              <a:spcAft>
                <a:spcPts val="0"/>
              </a:spcAft>
              <a:buNone/>
            </a:pPr>
            <a:r>
              <a:rPr lang="en-US" sz="1600" b="1" dirty="0">
                <a:solidFill>
                  <a:srgbClr val="007434"/>
                </a:solidFill>
                <a:latin typeface="Tahoma" panose="020B0604030504040204"/>
                <a:cs typeface="Tahoma" panose="020B0604030504040204"/>
              </a:rPr>
              <a:t>Learning Objectives</a:t>
            </a:r>
          </a:p>
        </p:txBody>
      </p:sp>
      <p:sp>
        <p:nvSpPr>
          <p:cNvPr id="112" name="Box 112"/>
          <p:cNvSpPr txBox="1"/>
          <p:nvPr/>
        </p:nvSpPr>
        <p:spPr>
          <a:xfrm>
            <a:off x="4206240" y="1600200"/>
            <a:ext cx="475488" cy="475488"/>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000" b="1" dirty="0">
                <a:solidFill>
                  <a:srgbClr val="FFFFFF"/>
                </a:solidFill>
                <a:latin typeface="Tahoma" panose="020B0604030504040204"/>
                <a:cs typeface="Tahoma" panose="020B0604030504040204"/>
              </a:rPr>
              <a:t>LO1</a:t>
            </a:r>
          </a:p>
        </p:txBody>
      </p:sp>
      <p:sp>
        <p:nvSpPr>
          <p:cNvPr id="113" name="Box 113"/>
          <p:cNvSpPr txBox="1"/>
          <p:nvPr/>
        </p:nvSpPr>
        <p:spPr>
          <a:xfrm>
            <a:off x="4800600" y="1563624"/>
            <a:ext cx="3840480" cy="548640"/>
          </a:xfrm>
          <a:prstGeom prst="rect">
            <a:avLst/>
          </a:prstGeom>
          <a:noFill/>
          <a:ln>
            <a:noFill/>
          </a:ln>
        </p:spPr>
        <p:txBody>
          <a:bodyPr wrap="square" lIns="45720" tIns="45720" rIns="45720" bIns="45720" anchor="ctr">
            <a:noAutofit/>
          </a:bodyPr>
          <a:lstStyle/>
          <a:p>
            <a:r>
              <a:rPr lang="en-IN" sz="1400" dirty="0"/>
              <a:t>Understand Software Development</a:t>
            </a:r>
            <a:endParaRPr lang="en-US" sz="1300" dirty="0">
              <a:solidFill>
                <a:srgbClr val="1F1F1F"/>
              </a:solidFill>
              <a:latin typeface="Tahoma" panose="020B0604030504040204"/>
              <a:cs typeface="Tahoma" panose="020B0604030504040204"/>
            </a:endParaRPr>
          </a:p>
        </p:txBody>
      </p:sp>
      <p:sp>
        <p:nvSpPr>
          <p:cNvPr id="114" name="Box 114"/>
          <p:cNvSpPr txBox="1"/>
          <p:nvPr/>
        </p:nvSpPr>
        <p:spPr>
          <a:xfrm>
            <a:off x="4206240" y="2258568"/>
            <a:ext cx="475488" cy="475488"/>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000" b="1" dirty="0">
                <a:solidFill>
                  <a:srgbClr val="FFFFFF"/>
                </a:solidFill>
                <a:latin typeface="Tahoma" panose="020B0604030504040204"/>
                <a:cs typeface="Tahoma" panose="020B0604030504040204"/>
              </a:rPr>
              <a:t>LO2</a:t>
            </a:r>
          </a:p>
        </p:txBody>
      </p:sp>
      <p:sp>
        <p:nvSpPr>
          <p:cNvPr id="115" name="Box 115"/>
          <p:cNvSpPr txBox="1"/>
          <p:nvPr/>
        </p:nvSpPr>
        <p:spPr>
          <a:xfrm>
            <a:off x="4800600" y="2221991"/>
            <a:ext cx="3840480" cy="548640"/>
          </a:xfrm>
          <a:prstGeom prst="rect">
            <a:avLst/>
          </a:prstGeom>
          <a:noFill/>
          <a:ln>
            <a:noFill/>
          </a:ln>
        </p:spPr>
        <p:txBody>
          <a:bodyPr wrap="square" lIns="45720" tIns="45720" rIns="45720" bIns="45720" anchor="ctr">
            <a:noAutofit/>
          </a:bodyPr>
          <a:lstStyle/>
          <a:p>
            <a:r>
              <a:rPr lang="en-IN" sz="1400" dirty="0"/>
              <a:t>Explore Full-Stack Technologies</a:t>
            </a:r>
          </a:p>
        </p:txBody>
      </p:sp>
      <p:sp>
        <p:nvSpPr>
          <p:cNvPr id="116" name="Box 116"/>
          <p:cNvSpPr txBox="1"/>
          <p:nvPr/>
        </p:nvSpPr>
        <p:spPr>
          <a:xfrm>
            <a:off x="4206240" y="2916936"/>
            <a:ext cx="475488" cy="475488"/>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000" b="1" dirty="0">
                <a:solidFill>
                  <a:srgbClr val="FFFFFF"/>
                </a:solidFill>
                <a:latin typeface="Tahoma" panose="020B0604030504040204"/>
                <a:cs typeface="Tahoma" panose="020B0604030504040204"/>
              </a:rPr>
              <a:t>LO3</a:t>
            </a:r>
          </a:p>
        </p:txBody>
      </p:sp>
      <p:sp>
        <p:nvSpPr>
          <p:cNvPr id="117" name="Box 117"/>
          <p:cNvSpPr txBox="1"/>
          <p:nvPr/>
        </p:nvSpPr>
        <p:spPr>
          <a:xfrm>
            <a:off x="4800600" y="2880360"/>
            <a:ext cx="3840480" cy="548640"/>
          </a:xfrm>
          <a:prstGeom prst="rect">
            <a:avLst/>
          </a:prstGeom>
          <a:noFill/>
          <a:ln>
            <a:noFill/>
          </a:ln>
        </p:spPr>
        <p:txBody>
          <a:bodyPr wrap="square" lIns="45720" tIns="45720" rIns="45720" bIns="45720" anchor="ctr">
            <a:noAutofit/>
          </a:bodyPr>
          <a:lstStyle/>
          <a:p>
            <a:r>
              <a:rPr lang="en-IN" sz="1400" dirty="0"/>
              <a:t>Apply Programming Concepts</a:t>
            </a:r>
            <a:endParaRPr lang="en-US" sz="1300" dirty="0">
              <a:solidFill>
                <a:srgbClr val="1F1F1F"/>
              </a:solidFill>
              <a:latin typeface="Tahoma" panose="020B0604030504040204"/>
              <a:cs typeface="Tahoma" panose="020B0604030504040204"/>
            </a:endParaRPr>
          </a:p>
        </p:txBody>
      </p:sp>
      <p:sp>
        <p:nvSpPr>
          <p:cNvPr id="118" name="Box 118"/>
          <p:cNvSpPr txBox="1"/>
          <p:nvPr/>
        </p:nvSpPr>
        <p:spPr>
          <a:xfrm>
            <a:off x="4206240" y="3575304"/>
            <a:ext cx="475488" cy="475488"/>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000" b="1" dirty="0">
                <a:solidFill>
                  <a:srgbClr val="FFFFFF"/>
                </a:solidFill>
                <a:latin typeface="Tahoma" panose="020B0604030504040204"/>
                <a:cs typeface="Tahoma" panose="020B0604030504040204"/>
              </a:rPr>
              <a:t>LO4</a:t>
            </a:r>
          </a:p>
        </p:txBody>
      </p:sp>
      <p:sp>
        <p:nvSpPr>
          <p:cNvPr id="119" name="Box 119"/>
          <p:cNvSpPr txBox="1"/>
          <p:nvPr/>
        </p:nvSpPr>
        <p:spPr>
          <a:xfrm>
            <a:off x="4800600" y="3538728"/>
            <a:ext cx="3840480" cy="548640"/>
          </a:xfrm>
          <a:prstGeom prst="rect">
            <a:avLst/>
          </a:prstGeom>
          <a:noFill/>
          <a:ln>
            <a:noFill/>
          </a:ln>
        </p:spPr>
        <p:txBody>
          <a:bodyPr wrap="square" lIns="45720" tIns="45720" rIns="45720" bIns="45720" anchor="ctr">
            <a:noAutofit/>
          </a:bodyPr>
          <a:lstStyle/>
          <a:p>
            <a:r>
              <a:rPr lang="en-IN" sz="1400" dirty="0"/>
              <a:t>Understand Application Architecture</a:t>
            </a:r>
            <a:endParaRPr lang="en-US" sz="1300" dirty="0">
              <a:solidFill>
                <a:srgbClr val="1F1F1F"/>
              </a:solidFill>
              <a:latin typeface="Tahoma" panose="020B0604030504040204"/>
              <a:cs typeface="Tahoma" panose="020B0604030504040204"/>
            </a:endParaRPr>
          </a:p>
        </p:txBody>
      </p:sp>
      <p:sp>
        <p:nvSpPr>
          <p:cNvPr id="120" name="Box 120"/>
          <p:cNvSpPr txBox="1"/>
          <p:nvPr/>
        </p:nvSpPr>
        <p:spPr>
          <a:xfrm>
            <a:off x="4206240" y="4233672"/>
            <a:ext cx="475488" cy="475488"/>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000" b="1" dirty="0">
                <a:solidFill>
                  <a:srgbClr val="FFFFFF"/>
                </a:solidFill>
                <a:latin typeface="Tahoma" panose="020B0604030504040204"/>
                <a:cs typeface="Tahoma" panose="020B0604030504040204"/>
              </a:rPr>
              <a:t>LO5</a:t>
            </a:r>
          </a:p>
        </p:txBody>
      </p:sp>
      <p:sp>
        <p:nvSpPr>
          <p:cNvPr id="121" name="Box 121"/>
          <p:cNvSpPr txBox="1"/>
          <p:nvPr/>
        </p:nvSpPr>
        <p:spPr>
          <a:xfrm>
            <a:off x="4800600" y="4197096"/>
            <a:ext cx="3840480" cy="548640"/>
          </a:xfrm>
          <a:prstGeom prst="rect">
            <a:avLst/>
          </a:prstGeom>
          <a:noFill/>
          <a:ln>
            <a:noFill/>
          </a:ln>
        </p:spPr>
        <p:txBody>
          <a:bodyPr wrap="square" lIns="45720" tIns="45720" rIns="45720" bIns="45720" anchor="ctr">
            <a:noAutofit/>
          </a:bodyPr>
          <a:lstStyle/>
          <a:p>
            <a:r>
              <a:rPr lang="en-IN" sz="1400" dirty="0"/>
              <a:t>Understand Application Architecture</a:t>
            </a:r>
            <a:endParaRPr lang="en-US" sz="1300" dirty="0">
              <a:solidFill>
                <a:srgbClr val="1F1F1F"/>
              </a:solidFill>
              <a:latin typeface="Tahoma" panose="020B0604030504040204"/>
              <a:cs typeface="Tahoma" panose="020B0604030504040204"/>
            </a:endParaRPr>
          </a:p>
        </p:txBody>
      </p:sp>
      <p:sp>
        <p:nvSpPr>
          <p:cNvPr id="122" name="Box 122"/>
          <p:cNvSpPr txBox="1"/>
          <p:nvPr/>
        </p:nvSpPr>
        <p:spPr>
          <a:xfrm>
            <a:off x="4206240" y="4892040"/>
            <a:ext cx="475488" cy="475488"/>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000" b="1" dirty="0">
                <a:solidFill>
                  <a:srgbClr val="FFFFFF"/>
                </a:solidFill>
                <a:latin typeface="Tahoma" panose="020B0604030504040204"/>
                <a:cs typeface="Tahoma" panose="020B0604030504040204"/>
              </a:rPr>
              <a:t>LO6</a:t>
            </a:r>
          </a:p>
        </p:txBody>
      </p:sp>
      <p:sp>
        <p:nvSpPr>
          <p:cNvPr id="123" name="Box 123"/>
          <p:cNvSpPr txBox="1"/>
          <p:nvPr/>
        </p:nvSpPr>
        <p:spPr>
          <a:xfrm>
            <a:off x="4800600" y="4855464"/>
            <a:ext cx="3840480" cy="548640"/>
          </a:xfrm>
          <a:prstGeom prst="rect">
            <a:avLst/>
          </a:prstGeom>
          <a:noFill/>
          <a:ln>
            <a:noFill/>
          </a:ln>
        </p:spPr>
        <p:txBody>
          <a:bodyPr wrap="square" lIns="45720" tIns="45720" rIns="45720" bIns="45720" anchor="ctr">
            <a:noAutofit/>
          </a:bodyPr>
          <a:lstStyle/>
          <a:p>
            <a:r>
              <a:rPr lang="en-IN" sz="1400" dirty="0"/>
              <a:t>Perform Software Testing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Description of the Company</a:t>
            </a:r>
            <a:endParaRPr lang="en-IN" dirty="0"/>
          </a:p>
        </p:txBody>
      </p:sp>
      <p:sp>
        <p:nvSpPr>
          <p:cNvPr id="4" name="Slide Number Placeholder 3"/>
          <p:cNvSpPr>
            <a:spLocks noGrp="1"/>
          </p:cNvSpPr>
          <p:nvPr>
            <p:ph type="sldNum" sz="quarter" idx="12"/>
          </p:nvPr>
        </p:nvSpPr>
        <p:spPr/>
        <p:txBody>
          <a:bodyPr/>
          <a:lstStyle/>
          <a:p>
            <a:fld id="{B03FF234-8176-4A77-8F9A-3A491C5D5CBE}" type="slidenum">
              <a:rPr lang="en-IN" smtClean="0"/>
              <a:t>6</a:t>
            </a:fld>
            <a:endParaRPr lang="en-IN" dirty="0"/>
          </a:p>
        </p:txBody>
      </p:sp>
      <p:sp>
        <p:nvSpPr>
          <p:cNvPr id="124" name="Box 124"/>
          <p:cNvSpPr txBox="1"/>
          <p:nvPr/>
        </p:nvSpPr>
        <p:spPr>
          <a:xfrm>
            <a:off x="457200" y="729022"/>
            <a:ext cx="8046720" cy="1234440"/>
          </a:xfrm>
          <a:prstGeom prst="rect">
            <a:avLst/>
          </a:prstGeom>
          <a:noFill/>
          <a:ln>
            <a:noFill/>
          </a:ln>
        </p:spPr>
        <p:txBody>
          <a:bodyPr wrap="square" lIns="91440" tIns="91440" rIns="91440" bIns="91440" anchor="t">
            <a:noAutofit/>
          </a:bodyPr>
          <a:lstStyle/>
          <a:p>
            <a:r>
              <a:rPr dirty="0" err="1"/>
              <a:t>CodTech</a:t>
            </a:r>
            <a:r>
              <a:rPr dirty="0"/>
              <a:t> IT Solutions Private Limited is an information technology services and software consulting organization based in Telangana, India. The internship offered exposure to practical software development methods and full-stack application technologies.</a:t>
            </a:r>
          </a:p>
          <a:p>
            <a:r>
              <a:rPr dirty="0"/>
              <a:t>The internship emphasized applying academic programming concepts to a structured software project, with attention to application architecture, testing, documentation, and maintainability.</a:t>
            </a:r>
          </a:p>
        </p:txBody>
      </p:sp>
      <p:pic>
        <p:nvPicPr>
          <p:cNvPr id="7" name="Picture 6">
            <a:extLst>
              <a:ext uri="{FF2B5EF4-FFF2-40B4-BE49-F238E27FC236}">
                <a16:creationId xmlns:a16="http://schemas.microsoft.com/office/drawing/2014/main" id="{384C7210-C41B-6BC1-A474-B931E0893E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100" y="2895600"/>
            <a:ext cx="6019800" cy="31167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3.2     Overview of the Project</a:t>
            </a:r>
            <a:endParaRPr lang="en-IN" dirty="0"/>
          </a:p>
        </p:txBody>
      </p:sp>
      <p:sp>
        <p:nvSpPr>
          <p:cNvPr id="4" name="Slide Number Placeholder 3"/>
          <p:cNvSpPr>
            <a:spLocks noGrp="1"/>
          </p:cNvSpPr>
          <p:nvPr>
            <p:ph type="sldNum" sz="quarter" idx="12"/>
          </p:nvPr>
        </p:nvSpPr>
        <p:spPr/>
        <p:txBody>
          <a:bodyPr/>
          <a:lstStyle/>
          <a:p>
            <a:fld id="{B03FF234-8176-4A77-8F9A-3A491C5D5CBE}" type="slidenum">
              <a:rPr lang="en-IN" smtClean="0"/>
              <a:t>7</a:t>
            </a:fld>
            <a:endParaRPr lang="en-IN" dirty="0"/>
          </a:p>
        </p:txBody>
      </p:sp>
      <p:sp>
        <p:nvSpPr>
          <p:cNvPr id="126" name="Box 126"/>
          <p:cNvSpPr txBox="1"/>
          <p:nvPr/>
        </p:nvSpPr>
        <p:spPr>
          <a:xfrm>
            <a:off x="548640" y="1097280"/>
            <a:ext cx="8046720" cy="914400"/>
          </a:xfrm>
          <a:prstGeom prst="rect">
            <a:avLst/>
          </a:prstGeom>
          <a:noFill/>
          <a:ln>
            <a:noFill/>
          </a:ln>
        </p:spPr>
        <p:txBody>
          <a:bodyPr wrap="square" lIns="91440" tIns="91440" rIns="91440" bIns="91440" anchor="t">
            <a:noAutofit/>
          </a:bodyPr>
          <a:lstStyle/>
          <a:p>
            <a:r>
              <a:t>Project focus: Design and Implementation of an Enterprise Java Full Stack Web Application, using a layered architecture to separate the user interface, backend business logic, and database persistence.</a:t>
            </a:r>
          </a:p>
        </p:txBody>
      </p:sp>
      <p:sp>
        <p:nvSpPr>
          <p:cNvPr id="128" name="Box 128"/>
          <p:cNvSpPr txBox="1"/>
          <p:nvPr/>
        </p:nvSpPr>
        <p:spPr>
          <a:xfrm>
            <a:off x="457200" y="5097955"/>
            <a:ext cx="2560320" cy="731520"/>
          </a:xfrm>
          <a:prstGeom prst="roundRect">
            <a:avLst>
              <a:gd name="adj" fmla="val 8000"/>
            </a:avLst>
          </a:prstGeom>
          <a:solidFill>
            <a:srgbClr val="E8F4EC"/>
          </a:solidFill>
          <a:ln>
            <a:noFill/>
          </a:ln>
        </p:spPr>
        <p:txBody>
          <a:bodyPr wrap="square" lIns="45720" tIns="45720" rIns="45720" bIns="45720" anchor="ctr">
            <a:noAutofit/>
          </a:bodyPr>
          <a:lstStyle/>
          <a:p>
            <a:r>
              <a:t>Multi-tier</a:t>
            </a:r>
          </a:p>
          <a:p>
            <a:r>
              <a:t>Architecture</a:t>
            </a:r>
          </a:p>
        </p:txBody>
      </p:sp>
      <p:sp>
        <p:nvSpPr>
          <p:cNvPr id="129" name="Box 129"/>
          <p:cNvSpPr txBox="1"/>
          <p:nvPr/>
        </p:nvSpPr>
        <p:spPr>
          <a:xfrm>
            <a:off x="3291840" y="5097955"/>
            <a:ext cx="2560320" cy="731520"/>
          </a:xfrm>
          <a:prstGeom prst="roundRect">
            <a:avLst>
              <a:gd name="adj" fmla="val 8000"/>
            </a:avLst>
          </a:prstGeom>
          <a:solidFill>
            <a:srgbClr val="E8F4EC"/>
          </a:solidFill>
          <a:ln>
            <a:noFill/>
          </a:ln>
        </p:spPr>
        <p:txBody>
          <a:bodyPr wrap="square" lIns="45720" tIns="45720" rIns="45720" bIns="45720" anchor="ctr">
            <a:noAutofit/>
          </a:bodyPr>
          <a:lstStyle/>
          <a:p>
            <a:r>
              <a:rPr dirty="0"/>
              <a:t>REST API</a:t>
            </a:r>
          </a:p>
          <a:p>
            <a:r>
              <a:rPr dirty="0"/>
              <a:t>Integration</a:t>
            </a:r>
          </a:p>
        </p:txBody>
      </p:sp>
      <p:sp>
        <p:nvSpPr>
          <p:cNvPr id="130" name="Box 130"/>
          <p:cNvSpPr txBox="1"/>
          <p:nvPr/>
        </p:nvSpPr>
        <p:spPr>
          <a:xfrm>
            <a:off x="6035040" y="5097955"/>
            <a:ext cx="2560320" cy="731520"/>
          </a:xfrm>
          <a:prstGeom prst="roundRect">
            <a:avLst>
              <a:gd name="adj" fmla="val 8000"/>
            </a:avLst>
          </a:prstGeom>
          <a:solidFill>
            <a:srgbClr val="E8F4EC"/>
          </a:solidFill>
          <a:ln>
            <a:noFill/>
          </a:ln>
        </p:spPr>
        <p:txBody>
          <a:bodyPr wrap="square" lIns="45720" tIns="45720" rIns="45720" bIns="45720" anchor="ctr">
            <a:noAutofit/>
          </a:bodyPr>
          <a:lstStyle/>
          <a:p>
            <a:r>
              <a:rPr dirty="0"/>
              <a:t>End-to-end</a:t>
            </a:r>
          </a:p>
          <a:p>
            <a:r>
              <a:rPr dirty="0"/>
              <a:t>Application Flow</a:t>
            </a:r>
          </a:p>
        </p:txBody>
      </p:sp>
      <p:pic>
        <p:nvPicPr>
          <p:cNvPr id="5" name="Picture 4">
            <a:extLst>
              <a:ext uri="{FF2B5EF4-FFF2-40B4-BE49-F238E27FC236}">
                <a16:creationId xmlns:a16="http://schemas.microsoft.com/office/drawing/2014/main" id="{72B9E598-FAB1-7B74-BAC0-9FB06F566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153835"/>
            <a:ext cx="7772400" cy="27991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3.3     Technology Stack</a:t>
            </a:r>
            <a:endParaRPr lang="en-IN" dirty="0"/>
          </a:p>
        </p:txBody>
      </p:sp>
      <p:sp>
        <p:nvSpPr>
          <p:cNvPr id="4" name="Slide Number Placeholder 3"/>
          <p:cNvSpPr>
            <a:spLocks noGrp="1"/>
          </p:cNvSpPr>
          <p:nvPr>
            <p:ph type="sldNum" sz="quarter" idx="12"/>
          </p:nvPr>
        </p:nvSpPr>
        <p:spPr/>
        <p:txBody>
          <a:bodyPr/>
          <a:lstStyle/>
          <a:p>
            <a:fld id="{B03FF234-8176-4A77-8F9A-3A491C5D5CBE}" type="slidenum">
              <a:rPr lang="en-IN" smtClean="0"/>
              <a:t>8</a:t>
            </a:fld>
            <a:endParaRPr lang="en-IN" dirty="0"/>
          </a:p>
        </p:txBody>
      </p:sp>
      <p:pic>
        <p:nvPicPr>
          <p:cNvPr id="7" name="Picture 6">
            <a:extLst>
              <a:ext uri="{FF2B5EF4-FFF2-40B4-BE49-F238E27FC236}">
                <a16:creationId xmlns:a16="http://schemas.microsoft.com/office/drawing/2014/main" id="{9B5C105B-9F8F-8F80-6253-98024D5F46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 y="1192595"/>
            <a:ext cx="7696200" cy="48360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4. Summary of Experience</a:t>
            </a:r>
          </a:p>
        </p:txBody>
      </p:sp>
      <p:sp>
        <p:nvSpPr>
          <p:cNvPr id="4" name="Slide Number Placeholder 3"/>
          <p:cNvSpPr>
            <a:spLocks noGrp="1"/>
          </p:cNvSpPr>
          <p:nvPr>
            <p:ph type="sldNum" sz="quarter" idx="12"/>
          </p:nvPr>
        </p:nvSpPr>
        <p:spPr/>
        <p:txBody>
          <a:bodyPr/>
          <a:lstStyle/>
          <a:p>
            <a:fld id="{B03FF234-8176-4A77-8F9A-3A491C5D5CBE}" type="slidenum">
              <a:rPr lang="en-IN" smtClean="0"/>
              <a:t>9</a:t>
            </a:fld>
            <a:endParaRPr lang="en-IN" dirty="0"/>
          </a:p>
        </p:txBody>
      </p:sp>
      <p:sp>
        <p:nvSpPr>
          <p:cNvPr id="139" name="Box 139"/>
          <p:cNvSpPr txBox="1"/>
          <p:nvPr/>
        </p:nvSpPr>
        <p:spPr>
          <a:xfrm>
            <a:off x="646176" y="847989"/>
            <a:ext cx="8046720" cy="457200"/>
          </a:xfrm>
          <a:prstGeom prst="rect">
            <a:avLst/>
          </a:prstGeom>
          <a:noFill/>
          <a:ln>
            <a:noFill/>
          </a:ln>
        </p:spPr>
        <p:txBody>
          <a:bodyPr wrap="square" lIns="91440" tIns="91440" rIns="91440" bIns="91440" anchor="t">
            <a:noAutofit/>
          </a:bodyPr>
          <a:lstStyle/>
          <a:p>
            <a:r>
              <a:rPr dirty="0"/>
              <a:t>A four-week learning journey through Java full-stack development:</a:t>
            </a:r>
          </a:p>
        </p:txBody>
      </p:sp>
      <p:pic>
        <p:nvPicPr>
          <p:cNvPr id="6" name="Picture 5">
            <a:extLst>
              <a:ext uri="{FF2B5EF4-FFF2-40B4-BE49-F238E27FC236}">
                <a16:creationId xmlns:a16="http://schemas.microsoft.com/office/drawing/2014/main" id="{DB783F14-AE70-4923-228C-ABC4A7E59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688" y="1401624"/>
            <a:ext cx="8040624" cy="45144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4. Summary of Experience – Key Results</a:t>
            </a:r>
          </a:p>
        </p:txBody>
      </p:sp>
      <p:sp>
        <p:nvSpPr>
          <p:cNvPr id="4" name="Slide Number Placeholder 3"/>
          <p:cNvSpPr>
            <a:spLocks noGrp="1"/>
          </p:cNvSpPr>
          <p:nvPr>
            <p:ph type="sldNum" sz="quarter" idx="12"/>
          </p:nvPr>
        </p:nvSpPr>
        <p:spPr/>
        <p:txBody>
          <a:bodyPr/>
          <a:lstStyle/>
          <a:p>
            <a:fld id="{B03FF234-8176-4A77-8F9A-3A491C5D5CBE}" type="slidenum">
              <a:rPr lang="en-IN" smtClean="0"/>
              <a:t>10</a:t>
            </a:fld>
            <a:endParaRPr lang="en-IN" dirty="0"/>
          </a:p>
        </p:txBody>
      </p:sp>
      <p:sp>
        <p:nvSpPr>
          <p:cNvPr id="141" name="Box 141"/>
          <p:cNvSpPr txBox="1"/>
          <p:nvPr/>
        </p:nvSpPr>
        <p:spPr>
          <a:xfrm>
            <a:off x="548640" y="1188720"/>
            <a:ext cx="2514600" cy="2011680"/>
          </a:xfrm>
          <a:prstGeom prst="roundRect">
            <a:avLst>
              <a:gd name="adj" fmla="val 8000"/>
            </a:avLst>
          </a:prstGeom>
          <a:solidFill>
            <a:srgbClr val="E8F4EC"/>
          </a:solidFill>
          <a:ln>
            <a:noFill/>
          </a:ln>
        </p:spPr>
        <p:txBody>
          <a:bodyPr wrap="square" lIns="109728" tIns="109728" rIns="109728" bIns="109728" anchor="ctr">
            <a:noAutofit/>
          </a:bodyPr>
          <a:lstStyle/>
          <a:p>
            <a:r>
              <a:t>Core Java</a:t>
            </a:r>
          </a:p>
          <a:p>
            <a:r>
              <a:t>OOP concepts, collections and exception handling</a:t>
            </a:r>
          </a:p>
        </p:txBody>
      </p:sp>
      <p:sp>
        <p:nvSpPr>
          <p:cNvPr id="142" name="Box 142"/>
          <p:cNvSpPr txBox="1"/>
          <p:nvPr/>
        </p:nvSpPr>
        <p:spPr>
          <a:xfrm>
            <a:off x="3246120" y="1188720"/>
            <a:ext cx="2514600" cy="2011680"/>
          </a:xfrm>
          <a:prstGeom prst="roundRect">
            <a:avLst>
              <a:gd name="adj" fmla="val 8000"/>
            </a:avLst>
          </a:prstGeom>
          <a:solidFill>
            <a:srgbClr val="E8F4EC"/>
          </a:solidFill>
          <a:ln>
            <a:noFill/>
          </a:ln>
        </p:spPr>
        <p:txBody>
          <a:bodyPr wrap="square" lIns="109728" tIns="109728" rIns="109728" bIns="109728" anchor="ctr">
            <a:noAutofit/>
          </a:bodyPr>
          <a:lstStyle/>
          <a:p>
            <a:r>
              <a:t>REST APIs</a:t>
            </a:r>
          </a:p>
          <a:p>
            <a:r>
              <a:t>Spring Boot controllers and HTTP methods</a:t>
            </a:r>
          </a:p>
        </p:txBody>
      </p:sp>
      <p:sp>
        <p:nvSpPr>
          <p:cNvPr id="143" name="Box 143"/>
          <p:cNvSpPr txBox="1"/>
          <p:nvPr/>
        </p:nvSpPr>
        <p:spPr>
          <a:xfrm>
            <a:off x="5943600" y="1188720"/>
            <a:ext cx="2514600" cy="2011680"/>
          </a:xfrm>
          <a:prstGeom prst="roundRect">
            <a:avLst>
              <a:gd name="adj" fmla="val 8000"/>
            </a:avLst>
          </a:prstGeom>
          <a:solidFill>
            <a:srgbClr val="E8F4EC"/>
          </a:solidFill>
          <a:ln>
            <a:noFill/>
          </a:ln>
        </p:spPr>
        <p:txBody>
          <a:bodyPr wrap="square" lIns="109728" tIns="109728" rIns="109728" bIns="109728" anchor="ctr">
            <a:noAutofit/>
          </a:bodyPr>
          <a:lstStyle/>
          <a:p>
            <a:r>
              <a:t>Persistence</a:t>
            </a:r>
          </a:p>
          <a:p>
            <a:r>
              <a:t>JPA/Hibernate and relational database mapping</a:t>
            </a:r>
          </a:p>
        </p:txBody>
      </p:sp>
      <p:sp>
        <p:nvSpPr>
          <p:cNvPr id="144" name="Box 144"/>
          <p:cNvSpPr txBox="1"/>
          <p:nvPr/>
        </p:nvSpPr>
        <p:spPr>
          <a:xfrm>
            <a:off x="548640" y="3383280"/>
            <a:ext cx="2514600" cy="2011680"/>
          </a:xfrm>
          <a:prstGeom prst="roundRect">
            <a:avLst>
              <a:gd name="adj" fmla="val 8000"/>
            </a:avLst>
          </a:prstGeom>
          <a:solidFill>
            <a:srgbClr val="E8F4EC"/>
          </a:solidFill>
          <a:ln>
            <a:noFill/>
          </a:ln>
        </p:spPr>
        <p:txBody>
          <a:bodyPr wrap="square" lIns="109728" tIns="109728" rIns="109728" bIns="109728" anchor="ctr">
            <a:noAutofit/>
          </a:bodyPr>
          <a:lstStyle/>
          <a:p>
            <a:r>
              <a:t>Testing &amp; Build</a:t>
            </a:r>
          </a:p>
          <a:p>
            <a:r>
              <a:t>Postman validation and Maven packaging</a:t>
            </a:r>
          </a:p>
        </p:txBody>
      </p:sp>
      <p:sp>
        <p:nvSpPr>
          <p:cNvPr id="145" name="Box 145"/>
          <p:cNvSpPr txBox="1"/>
          <p:nvPr/>
        </p:nvSpPr>
        <p:spPr>
          <a:xfrm>
            <a:off x="3246120" y="3383280"/>
            <a:ext cx="2514600" cy="2011680"/>
          </a:xfrm>
          <a:prstGeom prst="roundRect">
            <a:avLst>
              <a:gd name="adj" fmla="val 8000"/>
            </a:avLst>
          </a:prstGeom>
          <a:solidFill>
            <a:srgbClr val="E8F4EC"/>
          </a:solidFill>
          <a:ln>
            <a:noFill/>
          </a:ln>
        </p:spPr>
        <p:txBody>
          <a:bodyPr wrap="square" lIns="109728" tIns="109728" rIns="109728" bIns="109728" anchor="ctr">
            <a:noAutofit/>
          </a:bodyPr>
          <a:lstStyle/>
          <a:p>
            <a:pPr marL="0" indent="0" algn="ctr">
              <a:lnSpc>
                <a:spcPct val="100000"/>
              </a:lnSpc>
              <a:spcAft>
                <a:spcPts val="400"/>
              </a:spcAft>
              <a:buNone/>
            </a:pPr>
            <a:r>
              <a:rPr lang="en-US" sz="3600" b="1" dirty="0">
                <a:solidFill>
                  <a:srgbClr val="007434"/>
                </a:solidFill>
                <a:latin typeface="Tahoma" panose="020B0604030504040204"/>
                <a:cs typeface="Tahoma" panose="020B0604030504040204"/>
              </a:rPr>
              <a:t>60%</a:t>
            </a:r>
          </a:p>
          <a:p>
            <a:pPr marL="0" indent="0" algn="ctr">
              <a:lnSpc>
                <a:spcPct val="100000"/>
              </a:lnSpc>
              <a:spcAft>
                <a:spcPts val="400"/>
              </a:spcAft>
              <a:buNone/>
            </a:pPr>
            <a:r>
              <a:rPr lang="en-US" sz="1300" b="1" dirty="0">
                <a:solidFill>
                  <a:srgbClr val="1F1F1F"/>
                </a:solidFill>
                <a:latin typeface="Tahoma" panose="020B0604030504040204"/>
                <a:cs typeface="Tahoma" panose="020B0604030504040204"/>
              </a:rPr>
              <a:t>Model size reduction</a:t>
            </a:r>
          </a:p>
          <a:p>
            <a:pPr marL="0" indent="0" algn="ctr">
              <a:lnSpc>
                <a:spcPct val="100000"/>
              </a:lnSpc>
              <a:spcAft>
                <a:spcPts val="0"/>
              </a:spcAft>
              <a:buNone/>
            </a:pPr>
            <a:r>
              <a:rPr lang="en-US" sz="1050" dirty="0">
                <a:solidFill>
                  <a:srgbClr val="555555"/>
                </a:solidFill>
                <a:latin typeface="Tahoma" panose="020B0604030504040204"/>
                <a:cs typeface="Tahoma" panose="020B0604030504040204"/>
              </a:rPr>
              <a:t>TFLite, &lt;2% accuracy loss</a:t>
            </a:r>
          </a:p>
        </p:txBody>
      </p:sp>
      <p:sp>
        <p:nvSpPr>
          <p:cNvPr id="146" name="Box 146"/>
          <p:cNvSpPr txBox="1"/>
          <p:nvPr/>
        </p:nvSpPr>
        <p:spPr>
          <a:xfrm>
            <a:off x="5943600" y="3383280"/>
            <a:ext cx="2514600" cy="2011680"/>
          </a:xfrm>
          <a:prstGeom prst="roundRect">
            <a:avLst>
              <a:gd name="adj" fmla="val 8000"/>
            </a:avLst>
          </a:prstGeom>
          <a:solidFill>
            <a:srgbClr val="E8F4EC"/>
          </a:solidFill>
          <a:ln>
            <a:noFill/>
          </a:ln>
        </p:spPr>
        <p:txBody>
          <a:bodyPr wrap="square" lIns="109728" tIns="109728" rIns="109728" bIns="109728" anchor="ctr">
            <a:noAutofit/>
          </a:bodyPr>
          <a:lstStyle/>
          <a:p>
            <a:pPr marL="0" indent="0" algn="ctr">
              <a:lnSpc>
                <a:spcPct val="100000"/>
              </a:lnSpc>
              <a:spcAft>
                <a:spcPts val="400"/>
              </a:spcAft>
              <a:buNone/>
            </a:pPr>
            <a:r>
              <a:rPr lang="en-US" sz="3600" b="1" dirty="0">
                <a:solidFill>
                  <a:srgbClr val="007434"/>
                </a:solidFill>
                <a:latin typeface="Tahoma" panose="020B0604030504040204"/>
                <a:cs typeface="Tahoma" panose="020B0604030504040204"/>
              </a:rPr>
              <a:t>&gt;90%</a:t>
            </a:r>
          </a:p>
          <a:p>
            <a:pPr marL="0" indent="0" algn="ctr">
              <a:lnSpc>
                <a:spcPct val="100000"/>
              </a:lnSpc>
              <a:spcAft>
                <a:spcPts val="400"/>
              </a:spcAft>
              <a:buNone/>
            </a:pPr>
            <a:r>
              <a:rPr lang="en-US" sz="1300" b="1" dirty="0">
                <a:solidFill>
                  <a:srgbClr val="1F1F1F"/>
                </a:solidFill>
                <a:latin typeface="Tahoma" panose="020B0604030504040204"/>
                <a:cs typeface="Tahoma" panose="020B0604030504040204"/>
              </a:rPr>
              <a:t>Test coverage</a:t>
            </a:r>
          </a:p>
          <a:p>
            <a:pPr marL="0" indent="0" algn="ctr">
              <a:lnSpc>
                <a:spcPct val="100000"/>
              </a:lnSpc>
              <a:spcAft>
                <a:spcPts val="0"/>
              </a:spcAft>
              <a:buNone/>
            </a:pPr>
            <a:r>
              <a:rPr lang="en-US" sz="1050" dirty="0">
                <a:solidFill>
                  <a:srgbClr val="555555"/>
                </a:solidFill>
                <a:latin typeface="Tahoma" panose="020B0604030504040204"/>
                <a:cs typeface="Tahoma" panose="020B0604030504040204"/>
              </a:rPr>
              <a:t>AI Smart Assistant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5. Reflection on Learning</a:t>
            </a:r>
          </a:p>
        </p:txBody>
      </p:sp>
      <p:sp>
        <p:nvSpPr>
          <p:cNvPr id="4" name="Slide Number Placeholder 3"/>
          <p:cNvSpPr>
            <a:spLocks noGrp="1"/>
          </p:cNvSpPr>
          <p:nvPr>
            <p:ph type="sldNum" sz="quarter" idx="12"/>
          </p:nvPr>
        </p:nvSpPr>
        <p:spPr/>
        <p:txBody>
          <a:bodyPr/>
          <a:lstStyle/>
          <a:p>
            <a:fld id="{B03FF234-8176-4A77-8F9A-3A491C5D5CBE}" type="slidenum">
              <a:rPr lang="en-IN" smtClean="0"/>
              <a:t>11</a:t>
            </a:fld>
            <a:endParaRPr lang="en-IN" dirty="0"/>
          </a:p>
        </p:txBody>
      </p:sp>
      <p:sp>
        <p:nvSpPr>
          <p:cNvPr id="147" name="Box 147"/>
          <p:cNvSpPr txBox="1"/>
          <p:nvPr/>
        </p:nvSpPr>
        <p:spPr>
          <a:xfrm>
            <a:off x="548640" y="1097280"/>
            <a:ext cx="3931920" cy="1371600"/>
          </a:xfrm>
          <a:prstGeom prst="roundRect">
            <a:avLst>
              <a:gd name="adj" fmla="val 8000"/>
            </a:avLst>
          </a:prstGeom>
          <a:solidFill>
            <a:srgbClr val="E8F4EC"/>
          </a:solidFill>
          <a:ln>
            <a:noFill/>
          </a:ln>
        </p:spPr>
        <p:txBody>
          <a:bodyPr wrap="square" lIns="137160" tIns="137160" rIns="137160" bIns="137160" anchor="t">
            <a:noAutofit/>
          </a:bodyPr>
          <a:lstStyle/>
          <a:p>
            <a:r>
              <a:rPr sz="1400" b="1" dirty="0">
                <a:solidFill>
                  <a:srgbClr val="007434"/>
                </a:solidFill>
                <a:latin typeface="Tahoma" panose="020B0604030504040204" pitchFamily="34" charset="0"/>
                <a:ea typeface="Tahoma" panose="020B0604030504040204" pitchFamily="34" charset="0"/>
                <a:cs typeface="Tahoma" panose="020B0604030504040204" pitchFamily="34" charset="0"/>
              </a:rPr>
              <a:t>Technical Skills</a:t>
            </a:r>
          </a:p>
          <a:p>
            <a:r>
              <a:rPr sz="1200" dirty="0">
                <a:latin typeface="Tahoma" panose="020B0604030504040204" pitchFamily="34" charset="0"/>
                <a:ea typeface="Tahoma" panose="020B0604030504040204" pitchFamily="34" charset="0"/>
                <a:cs typeface="Tahoma" panose="020B0604030504040204" pitchFamily="34" charset="0"/>
              </a:rPr>
              <a:t>Java full-stack development — Core Java, Spring Boot, REST APIs, JPA/Hibernate, database design, and frontend integration.</a:t>
            </a:r>
          </a:p>
        </p:txBody>
      </p:sp>
      <p:sp>
        <p:nvSpPr>
          <p:cNvPr id="148" name="Box 148"/>
          <p:cNvSpPr txBox="1"/>
          <p:nvPr/>
        </p:nvSpPr>
        <p:spPr>
          <a:xfrm>
            <a:off x="4663440" y="1097280"/>
            <a:ext cx="3931920" cy="1371600"/>
          </a:xfrm>
          <a:prstGeom prst="roundRect">
            <a:avLst>
              <a:gd name="adj" fmla="val 8000"/>
            </a:avLst>
          </a:prstGeom>
          <a:solidFill>
            <a:srgbClr val="E8F4EC"/>
          </a:solidFill>
          <a:ln>
            <a:noFill/>
          </a:ln>
        </p:spPr>
        <p:txBody>
          <a:bodyPr wrap="square" lIns="137160" tIns="137160" rIns="137160" bIns="137160" anchor="t">
            <a:noAutofit/>
          </a:bodyPr>
          <a:lstStyle/>
          <a:p>
            <a:r>
              <a:rPr sz="1400" b="1" dirty="0">
                <a:solidFill>
                  <a:srgbClr val="007434"/>
                </a:solidFill>
                <a:latin typeface="Tahoma" panose="020B0604030504040204" pitchFamily="34" charset="0"/>
                <a:ea typeface="Tahoma" panose="020B0604030504040204" pitchFamily="34" charset="0"/>
                <a:cs typeface="Tahoma" panose="020B0604030504040204" pitchFamily="34" charset="0"/>
              </a:rPr>
              <a:t>Managerial Skills</a:t>
            </a:r>
          </a:p>
          <a:p>
            <a:r>
              <a:rPr sz="1200" dirty="0">
                <a:latin typeface="Tahoma" panose="020B0604030504040204" pitchFamily="34" charset="0"/>
                <a:ea typeface="Tahoma" panose="020B0604030504040204" pitchFamily="34" charset="0"/>
                <a:cs typeface="Tahoma" panose="020B0604030504040204" pitchFamily="34" charset="0"/>
              </a:rPr>
              <a:t>Worked through weekly milestones, task prioritization, iterative development, and project packaging</a:t>
            </a:r>
            <a:r>
              <a:rPr dirty="0"/>
              <a:t>.</a:t>
            </a:r>
          </a:p>
        </p:txBody>
      </p:sp>
      <p:sp>
        <p:nvSpPr>
          <p:cNvPr id="149" name="Box 149"/>
          <p:cNvSpPr txBox="1"/>
          <p:nvPr/>
        </p:nvSpPr>
        <p:spPr>
          <a:xfrm>
            <a:off x="548640" y="2587752"/>
            <a:ext cx="3931920" cy="1371600"/>
          </a:xfrm>
          <a:prstGeom prst="roundRect">
            <a:avLst>
              <a:gd name="adj" fmla="val 8000"/>
            </a:avLst>
          </a:prstGeom>
          <a:solidFill>
            <a:srgbClr val="E8F4EC"/>
          </a:solidFill>
          <a:ln>
            <a:noFill/>
          </a:ln>
        </p:spPr>
        <p:txBody>
          <a:bodyPr wrap="square" lIns="137160" tIns="137160" rIns="137160" bIns="137160" anchor="t">
            <a:noAutofit/>
          </a:bodyPr>
          <a:lstStyle/>
          <a:p>
            <a:r>
              <a:rPr sz="1400" b="1" dirty="0">
                <a:solidFill>
                  <a:srgbClr val="007434"/>
                </a:solidFill>
                <a:latin typeface="Tahoma" panose="020B0604030504040204" pitchFamily="34" charset="0"/>
                <a:ea typeface="Tahoma" panose="020B0604030504040204" pitchFamily="34" charset="0"/>
                <a:cs typeface="Tahoma" panose="020B0604030504040204" pitchFamily="34" charset="0"/>
              </a:rPr>
              <a:t>Communication</a:t>
            </a:r>
          </a:p>
          <a:p>
            <a:r>
              <a:rPr sz="1200" dirty="0">
                <a:latin typeface="Tahoma" panose="020B0604030504040204" pitchFamily="34" charset="0"/>
                <a:ea typeface="Tahoma" panose="020B0604030504040204" pitchFamily="34" charset="0"/>
                <a:cs typeface="Tahoma" panose="020B0604030504040204" pitchFamily="34" charset="0"/>
              </a:rPr>
              <a:t>Improved technical documentation, API testing, debugging, and explaining application flow.</a:t>
            </a:r>
          </a:p>
        </p:txBody>
      </p:sp>
      <p:sp>
        <p:nvSpPr>
          <p:cNvPr id="150" name="Box 150"/>
          <p:cNvSpPr txBox="1"/>
          <p:nvPr/>
        </p:nvSpPr>
        <p:spPr>
          <a:xfrm>
            <a:off x="4663440" y="2587752"/>
            <a:ext cx="3931920" cy="1371600"/>
          </a:xfrm>
          <a:prstGeom prst="roundRect">
            <a:avLst>
              <a:gd name="adj" fmla="val 8000"/>
            </a:avLst>
          </a:prstGeom>
          <a:solidFill>
            <a:srgbClr val="E8F4EC"/>
          </a:solidFill>
          <a:ln>
            <a:noFill/>
          </a:ln>
        </p:spPr>
        <p:txBody>
          <a:bodyPr wrap="square" lIns="137160" tIns="137160" rIns="137160" bIns="137160" anchor="t">
            <a:noAutofit/>
          </a:bodyPr>
          <a:lstStyle/>
          <a:p>
            <a:r>
              <a:rPr sz="1400" b="1" dirty="0">
                <a:solidFill>
                  <a:srgbClr val="007434"/>
                </a:solidFill>
                <a:latin typeface="Tahoma" panose="020B0604030504040204" pitchFamily="34" charset="0"/>
                <a:ea typeface="Tahoma" panose="020B0604030504040204" pitchFamily="34" charset="0"/>
                <a:cs typeface="Tahoma" panose="020B0604030504040204" pitchFamily="34" charset="0"/>
              </a:rPr>
              <a:t>Teamwork</a:t>
            </a:r>
          </a:p>
          <a:p>
            <a:r>
              <a:rPr sz="1200" dirty="0">
                <a:latin typeface="Tahoma" panose="020B0604030504040204" pitchFamily="34" charset="0"/>
                <a:ea typeface="Tahoma" panose="020B0604030504040204" pitchFamily="34" charset="0"/>
                <a:cs typeface="Tahoma" panose="020B0604030504040204" pitchFamily="34" charset="0"/>
              </a:rPr>
              <a:t>Practiced Git/GitHub version control, structured coding, and integration across frontend, backend, and database layers.</a:t>
            </a:r>
          </a:p>
        </p:txBody>
      </p:sp>
      <p:sp>
        <p:nvSpPr>
          <p:cNvPr id="151" name="Box 151"/>
          <p:cNvSpPr txBox="1"/>
          <p:nvPr/>
        </p:nvSpPr>
        <p:spPr>
          <a:xfrm>
            <a:off x="548640" y="4078224"/>
            <a:ext cx="3931920" cy="1371600"/>
          </a:xfrm>
          <a:prstGeom prst="roundRect">
            <a:avLst>
              <a:gd name="adj" fmla="val 8000"/>
            </a:avLst>
          </a:prstGeom>
          <a:solidFill>
            <a:srgbClr val="E8F4EC"/>
          </a:solidFill>
          <a:ln>
            <a:noFill/>
          </a:ln>
        </p:spPr>
        <p:txBody>
          <a:bodyPr wrap="square" lIns="137160" tIns="137160" rIns="137160" bIns="137160" anchor="t">
            <a:noAutofit/>
          </a:bodyPr>
          <a:lstStyle/>
          <a:p>
            <a:pPr marL="0" indent="0" algn="l">
              <a:lnSpc>
                <a:spcPct val="100000"/>
              </a:lnSpc>
              <a:spcAft>
                <a:spcPts val="400"/>
              </a:spcAft>
              <a:buNone/>
            </a:pPr>
            <a:r>
              <a:rPr lang="en-US" sz="1400" b="1" dirty="0">
                <a:solidFill>
                  <a:srgbClr val="007434"/>
                </a:solidFill>
                <a:latin typeface="Tahoma" panose="020B0604030504040204"/>
                <a:cs typeface="Tahoma" panose="020B0604030504040204"/>
              </a:rPr>
              <a:t>Work Environment</a:t>
            </a:r>
          </a:p>
          <a:p>
            <a:pPr marL="0" indent="0" algn="l">
              <a:lnSpc>
                <a:spcPct val="105000"/>
              </a:lnSpc>
              <a:spcAft>
                <a:spcPts val="0"/>
              </a:spcAft>
              <a:buNone/>
            </a:pPr>
            <a:r>
              <a:rPr lang="en-US" sz="1200" dirty="0">
                <a:solidFill>
                  <a:srgbClr val="1F1F1F"/>
                </a:solidFill>
                <a:latin typeface="Tahoma" panose="020B0604030504040204"/>
                <a:cs typeface="Tahoma" panose="020B0604030504040204"/>
              </a:rPr>
              <a:t>Well-equipped R&amp;D lab, daily stand-ups and weekly reviews, strong culture of learning.</a:t>
            </a:r>
          </a:p>
        </p:txBody>
      </p:sp>
      <p:sp>
        <p:nvSpPr>
          <p:cNvPr id="152" name="Box 152"/>
          <p:cNvSpPr txBox="1"/>
          <p:nvPr/>
        </p:nvSpPr>
        <p:spPr>
          <a:xfrm>
            <a:off x="4663440" y="4078224"/>
            <a:ext cx="3931920" cy="1371600"/>
          </a:xfrm>
          <a:prstGeom prst="roundRect">
            <a:avLst>
              <a:gd name="adj" fmla="val 8000"/>
            </a:avLst>
          </a:prstGeom>
          <a:solidFill>
            <a:srgbClr val="E8F4EC"/>
          </a:solidFill>
          <a:ln>
            <a:noFill/>
          </a:ln>
        </p:spPr>
        <p:txBody>
          <a:bodyPr wrap="square" lIns="137160" tIns="137160" rIns="137160" bIns="137160" anchor="t">
            <a:noAutofit/>
          </a:bodyPr>
          <a:lstStyle/>
          <a:p>
            <a:pPr marL="0" indent="0" algn="l">
              <a:lnSpc>
                <a:spcPct val="100000"/>
              </a:lnSpc>
              <a:spcAft>
                <a:spcPts val="400"/>
              </a:spcAft>
              <a:buNone/>
            </a:pPr>
            <a:r>
              <a:rPr lang="en-US" sz="1400" b="1" dirty="0">
                <a:solidFill>
                  <a:srgbClr val="007434"/>
                </a:solidFill>
                <a:latin typeface="Tahoma" panose="020B0604030504040204"/>
                <a:cs typeface="Tahoma" panose="020B0604030504040204"/>
              </a:rPr>
              <a:t>Professional Growth</a:t>
            </a:r>
          </a:p>
          <a:p>
            <a:pPr marL="0" indent="0" algn="l">
              <a:lnSpc>
                <a:spcPct val="105000"/>
              </a:lnSpc>
              <a:spcAft>
                <a:spcPts val="0"/>
              </a:spcAft>
              <a:buNone/>
            </a:pPr>
            <a:r>
              <a:rPr lang="en-US" sz="1200" dirty="0">
                <a:solidFill>
                  <a:srgbClr val="1F1F1F"/>
                </a:solidFill>
                <a:latin typeface="Tahoma" panose="020B0604030504040204"/>
                <a:cs typeface="Tahoma" panose="020B0604030504040204"/>
              </a:rPr>
              <a:t>Confidence to explain AI to technical and non-technical audiences.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5. Reflection – Technology Practices Observed</a:t>
            </a:r>
          </a:p>
        </p:txBody>
      </p:sp>
      <p:sp>
        <p:nvSpPr>
          <p:cNvPr id="4" name="Slide Number Placeholder 3"/>
          <p:cNvSpPr>
            <a:spLocks noGrp="1"/>
          </p:cNvSpPr>
          <p:nvPr>
            <p:ph type="sldNum" sz="quarter" idx="12"/>
          </p:nvPr>
        </p:nvSpPr>
        <p:spPr/>
        <p:txBody>
          <a:bodyPr/>
          <a:lstStyle/>
          <a:p>
            <a:fld id="{B03FF234-8176-4A77-8F9A-3A491C5D5CBE}" type="slidenum">
              <a:rPr lang="en-IN" smtClean="0"/>
              <a:t>12</a:t>
            </a:fld>
            <a:endParaRPr lang="en-IN" dirty="0"/>
          </a:p>
        </p:txBody>
      </p:sp>
      <p:sp>
        <p:nvSpPr>
          <p:cNvPr id="153" name="Box 153"/>
          <p:cNvSpPr txBox="1"/>
          <p:nvPr/>
        </p:nvSpPr>
        <p:spPr>
          <a:xfrm>
            <a:off x="548640" y="1143000"/>
            <a:ext cx="640080" cy="640080"/>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800" b="1" dirty="0">
                <a:solidFill>
                  <a:srgbClr val="FFFFFF"/>
                </a:solidFill>
                <a:latin typeface="Tahoma" panose="020B0604030504040204"/>
                <a:cs typeface="Tahoma" panose="020B0604030504040204"/>
              </a:rPr>
              <a:t>1</a:t>
            </a:r>
          </a:p>
        </p:txBody>
      </p:sp>
      <p:sp>
        <p:nvSpPr>
          <p:cNvPr id="154" name="Box 154"/>
          <p:cNvSpPr txBox="1"/>
          <p:nvPr/>
        </p:nvSpPr>
        <p:spPr>
          <a:xfrm>
            <a:off x="1371600" y="1069848"/>
            <a:ext cx="7223760" cy="822960"/>
          </a:xfrm>
          <a:prstGeom prst="rect">
            <a:avLst/>
          </a:prstGeom>
          <a:noFill/>
          <a:ln>
            <a:noFill/>
          </a:ln>
        </p:spPr>
        <p:txBody>
          <a:bodyPr wrap="square" lIns="45720" tIns="45720" rIns="45720" bIns="45720" anchor="ctr">
            <a:noAutofit/>
          </a:bodyPr>
          <a:lstStyle/>
          <a:p>
            <a:pPr>
              <a:spcAft>
                <a:spcPts val="100"/>
              </a:spcAft>
            </a:pPr>
            <a:r>
              <a:rPr lang="en-IN" sz="1400" b="1" dirty="0">
                <a:solidFill>
                  <a:srgbClr val="007434"/>
                </a:solidFill>
                <a:latin typeface="Tahoma" panose="020B0604030504040204" pitchFamily="34" charset="0"/>
                <a:ea typeface="Tahoma" panose="020B0604030504040204" pitchFamily="34" charset="0"/>
                <a:cs typeface="Tahoma" panose="020B0604030504040204" pitchFamily="34" charset="0"/>
              </a:rPr>
              <a:t>Structured Software Development</a:t>
            </a:r>
          </a:p>
          <a:p>
            <a:pPr>
              <a:spcAft>
                <a:spcPts val="100"/>
              </a:spcAft>
            </a:pPr>
            <a:r>
              <a:rPr lang="en-IN" sz="1400" dirty="0"/>
              <a:t> Observed the importance of following a systematic software development lifecycle.</a:t>
            </a:r>
            <a:endParaRPr lang="en-US" sz="1250" dirty="0">
              <a:solidFill>
                <a:srgbClr val="1F1F1F"/>
              </a:solidFill>
              <a:latin typeface="Tahoma" panose="020B0604030504040204"/>
              <a:cs typeface="Tahoma" panose="020B0604030504040204"/>
            </a:endParaRPr>
          </a:p>
        </p:txBody>
      </p:sp>
      <p:sp>
        <p:nvSpPr>
          <p:cNvPr id="155" name="Box 155"/>
          <p:cNvSpPr txBox="1"/>
          <p:nvPr/>
        </p:nvSpPr>
        <p:spPr>
          <a:xfrm>
            <a:off x="548640" y="2039112"/>
            <a:ext cx="640080" cy="640080"/>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800" b="1" dirty="0">
                <a:solidFill>
                  <a:srgbClr val="FFFFFF"/>
                </a:solidFill>
                <a:latin typeface="Tahoma" panose="020B0604030504040204"/>
                <a:cs typeface="Tahoma" panose="020B0604030504040204"/>
              </a:rPr>
              <a:t>2</a:t>
            </a:r>
          </a:p>
        </p:txBody>
      </p:sp>
      <p:sp>
        <p:nvSpPr>
          <p:cNvPr id="156" name="Box 156"/>
          <p:cNvSpPr txBox="1"/>
          <p:nvPr/>
        </p:nvSpPr>
        <p:spPr>
          <a:xfrm>
            <a:off x="1371600" y="1965960"/>
            <a:ext cx="7223760" cy="822960"/>
          </a:xfrm>
          <a:prstGeom prst="rect">
            <a:avLst/>
          </a:prstGeom>
          <a:noFill/>
          <a:ln>
            <a:noFill/>
          </a:ln>
        </p:spPr>
        <p:txBody>
          <a:bodyPr wrap="square" lIns="45720" tIns="45720" rIns="45720" bIns="45720" anchor="ctr">
            <a:noAutofit/>
          </a:bodyPr>
          <a:lstStyle/>
          <a:p>
            <a:pPr>
              <a:spcAft>
                <a:spcPts val="100"/>
              </a:spcAft>
            </a:pPr>
            <a:r>
              <a:rPr lang="en-IN" sz="1400" b="1" dirty="0">
                <a:solidFill>
                  <a:srgbClr val="007434"/>
                </a:solidFill>
                <a:latin typeface="Tahoma" panose="020B0604030504040204" pitchFamily="34" charset="0"/>
                <a:ea typeface="Tahoma" panose="020B0604030504040204" pitchFamily="34" charset="0"/>
                <a:cs typeface="Tahoma" panose="020B0604030504040204" pitchFamily="34" charset="0"/>
              </a:rPr>
              <a:t>Full-Stack Technologies </a:t>
            </a:r>
          </a:p>
          <a:p>
            <a:r>
              <a:rPr lang="en-IN" sz="1400" dirty="0"/>
              <a:t>Understood how frontend and backend technologies work together to build applications.</a:t>
            </a:r>
          </a:p>
        </p:txBody>
      </p:sp>
      <p:sp>
        <p:nvSpPr>
          <p:cNvPr id="157" name="Box 157"/>
          <p:cNvSpPr txBox="1"/>
          <p:nvPr/>
        </p:nvSpPr>
        <p:spPr>
          <a:xfrm>
            <a:off x="548640" y="2935224"/>
            <a:ext cx="640080" cy="640080"/>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800" b="1" dirty="0">
                <a:solidFill>
                  <a:srgbClr val="FFFFFF"/>
                </a:solidFill>
                <a:latin typeface="Tahoma" panose="020B0604030504040204"/>
                <a:cs typeface="Tahoma" panose="020B0604030504040204"/>
              </a:rPr>
              <a:t>3</a:t>
            </a:r>
          </a:p>
        </p:txBody>
      </p:sp>
      <p:sp>
        <p:nvSpPr>
          <p:cNvPr id="158" name="Box 158"/>
          <p:cNvSpPr txBox="1"/>
          <p:nvPr/>
        </p:nvSpPr>
        <p:spPr>
          <a:xfrm>
            <a:off x="1371600" y="2862072"/>
            <a:ext cx="7223760" cy="822960"/>
          </a:xfrm>
          <a:prstGeom prst="rect">
            <a:avLst/>
          </a:prstGeom>
          <a:noFill/>
          <a:ln>
            <a:noFill/>
          </a:ln>
        </p:spPr>
        <p:txBody>
          <a:bodyPr wrap="square" lIns="45720" tIns="45720" rIns="45720" bIns="45720" anchor="ctr">
            <a:noAutofit/>
          </a:bodyPr>
          <a:lstStyle/>
          <a:p>
            <a:pPr>
              <a:spcAft>
                <a:spcPts val="100"/>
              </a:spcAft>
            </a:pPr>
            <a:r>
              <a:rPr lang="en-IN" sz="1400" b="1" dirty="0">
                <a:solidFill>
                  <a:srgbClr val="007434"/>
                </a:solidFill>
                <a:latin typeface="Tahoma" panose="020B0604030504040204" pitchFamily="34" charset="0"/>
                <a:ea typeface="Tahoma" panose="020B0604030504040204" pitchFamily="34" charset="0"/>
                <a:cs typeface="Tahoma" panose="020B0604030504040204" pitchFamily="34" charset="0"/>
              </a:rPr>
              <a:t>Code Quality and Standards: </a:t>
            </a:r>
          </a:p>
          <a:p>
            <a:pPr>
              <a:spcAft>
                <a:spcPts val="100"/>
              </a:spcAft>
            </a:pPr>
            <a:r>
              <a:rPr lang="en-IN" sz="1400" dirty="0"/>
              <a:t>earned the importance of writing clean, reusable, and maintainable code.</a:t>
            </a:r>
            <a:endParaRPr lang="en-US" sz="1250" dirty="0">
              <a:solidFill>
                <a:srgbClr val="1F1F1F"/>
              </a:solidFill>
              <a:latin typeface="Tahoma" panose="020B0604030504040204"/>
              <a:cs typeface="Tahoma" panose="020B0604030504040204"/>
            </a:endParaRPr>
          </a:p>
        </p:txBody>
      </p:sp>
      <p:sp>
        <p:nvSpPr>
          <p:cNvPr id="159" name="Box 159"/>
          <p:cNvSpPr txBox="1"/>
          <p:nvPr/>
        </p:nvSpPr>
        <p:spPr>
          <a:xfrm>
            <a:off x="548640" y="3831335"/>
            <a:ext cx="640080" cy="640080"/>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800" b="1" dirty="0">
                <a:solidFill>
                  <a:srgbClr val="FFFFFF"/>
                </a:solidFill>
                <a:latin typeface="Tahoma" panose="020B0604030504040204"/>
                <a:cs typeface="Tahoma" panose="020B0604030504040204"/>
              </a:rPr>
              <a:t>4</a:t>
            </a:r>
          </a:p>
        </p:txBody>
      </p:sp>
      <p:sp>
        <p:nvSpPr>
          <p:cNvPr id="160" name="Box 160"/>
          <p:cNvSpPr txBox="1"/>
          <p:nvPr/>
        </p:nvSpPr>
        <p:spPr>
          <a:xfrm>
            <a:off x="1371600" y="3758183"/>
            <a:ext cx="7223760" cy="822960"/>
          </a:xfrm>
          <a:prstGeom prst="rect">
            <a:avLst/>
          </a:prstGeom>
          <a:noFill/>
          <a:ln>
            <a:noFill/>
          </a:ln>
        </p:spPr>
        <p:txBody>
          <a:bodyPr wrap="square" lIns="45720" tIns="45720" rIns="45720" bIns="45720" anchor="ctr">
            <a:noAutofit/>
          </a:bodyPr>
          <a:lstStyle/>
          <a:p>
            <a:pPr>
              <a:spcAft>
                <a:spcPts val="100"/>
              </a:spcAft>
            </a:pPr>
            <a:r>
              <a:rPr lang="en-IN" sz="1400" b="1" dirty="0">
                <a:solidFill>
                  <a:srgbClr val="007434"/>
                </a:solidFill>
                <a:latin typeface="Tahoma" panose="020B0604030504040204" pitchFamily="34" charset="0"/>
                <a:ea typeface="Tahoma" panose="020B0604030504040204" pitchFamily="34" charset="0"/>
                <a:cs typeface="Tahoma" panose="020B0604030504040204" pitchFamily="34" charset="0"/>
              </a:rPr>
              <a:t>Software Testing and Debugging</a:t>
            </a:r>
            <a:endParaRPr lang="en-US" sz="1400" b="1" dirty="0">
              <a:solidFill>
                <a:srgbClr val="007434"/>
              </a:solidFill>
              <a:latin typeface="Tahoma" panose="020B0604030504040204" pitchFamily="34" charset="0"/>
              <a:ea typeface="Tahoma" panose="020B0604030504040204" pitchFamily="34" charset="0"/>
              <a:cs typeface="Tahoma" panose="020B0604030504040204" pitchFamily="34" charset="0"/>
            </a:endParaRPr>
          </a:p>
          <a:p>
            <a:r>
              <a:rPr lang="en-IN" sz="1400" dirty="0"/>
              <a:t>Recognized the role of testing and debugging in identifying errors and improving application reliability.</a:t>
            </a:r>
            <a:endParaRPr lang="en-US" sz="1250" dirty="0">
              <a:solidFill>
                <a:srgbClr val="1F1F1F"/>
              </a:solidFill>
              <a:latin typeface="Tahoma" panose="020B0604030504040204"/>
              <a:cs typeface="Tahoma" panose="020B0604030504040204"/>
            </a:endParaRPr>
          </a:p>
        </p:txBody>
      </p:sp>
      <p:sp>
        <p:nvSpPr>
          <p:cNvPr id="161" name="Box 161"/>
          <p:cNvSpPr txBox="1"/>
          <p:nvPr/>
        </p:nvSpPr>
        <p:spPr>
          <a:xfrm>
            <a:off x="548640" y="4727448"/>
            <a:ext cx="640080" cy="640080"/>
          </a:xfrm>
          <a:prstGeom prst="ellipse">
            <a:avLst/>
          </a:prstGeom>
          <a:solidFill>
            <a:srgbClr val="007434"/>
          </a:solidFill>
          <a:ln>
            <a:noFill/>
          </a:ln>
        </p:spPr>
        <p:txBody>
          <a:bodyPr wrap="square" lIns="0" tIns="0" rIns="0" bIns="0" anchor="ctr">
            <a:noAutofit/>
          </a:bodyPr>
          <a:lstStyle/>
          <a:p>
            <a:pPr marL="0" indent="0" algn="ctr">
              <a:lnSpc>
                <a:spcPct val="100000"/>
              </a:lnSpc>
              <a:spcAft>
                <a:spcPts val="0"/>
              </a:spcAft>
              <a:buNone/>
            </a:pPr>
            <a:r>
              <a:rPr lang="en-US" sz="1800" b="1" dirty="0">
                <a:solidFill>
                  <a:srgbClr val="FFFFFF"/>
                </a:solidFill>
                <a:latin typeface="Tahoma" panose="020B0604030504040204"/>
                <a:cs typeface="Tahoma" panose="020B0604030504040204"/>
              </a:rPr>
              <a:t>5</a:t>
            </a:r>
          </a:p>
        </p:txBody>
      </p:sp>
      <p:sp>
        <p:nvSpPr>
          <p:cNvPr id="162" name="Box 162"/>
          <p:cNvSpPr txBox="1"/>
          <p:nvPr/>
        </p:nvSpPr>
        <p:spPr>
          <a:xfrm>
            <a:off x="1371600" y="4654296"/>
            <a:ext cx="7223760" cy="822960"/>
          </a:xfrm>
          <a:prstGeom prst="rect">
            <a:avLst/>
          </a:prstGeom>
          <a:noFill/>
          <a:ln>
            <a:noFill/>
          </a:ln>
        </p:spPr>
        <p:txBody>
          <a:bodyPr wrap="square" lIns="45720" tIns="45720" rIns="45720" bIns="45720" anchor="ctr">
            <a:noAutofit/>
          </a:bodyPr>
          <a:lstStyle/>
          <a:p>
            <a:pPr>
              <a:spcAft>
                <a:spcPts val="100"/>
              </a:spcAft>
            </a:pPr>
            <a:r>
              <a:rPr lang="en-IN" sz="1400" b="1" dirty="0">
                <a:solidFill>
                  <a:srgbClr val="007434"/>
                </a:solidFill>
                <a:latin typeface="Tahoma" panose="020B0604030504040204" pitchFamily="34" charset="0"/>
                <a:ea typeface="Tahoma" panose="020B0604030504040204" pitchFamily="34" charset="0"/>
                <a:cs typeface="Tahoma" panose="020B0604030504040204" pitchFamily="34" charset="0"/>
              </a:rPr>
              <a:t>Documentation and Collaboration </a:t>
            </a:r>
          </a:p>
          <a:p>
            <a:r>
              <a:rPr lang="en-IN" sz="1400" dirty="0"/>
              <a:t>Understood the importance of technical documentation, version control, and teamwork in software projects.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a:t>
            </a:r>
            <a:r>
              <a:rPr lang="en-IN" dirty="0"/>
              <a:t>Conclusion</a:t>
            </a:r>
          </a:p>
        </p:txBody>
      </p:sp>
      <p:sp>
        <p:nvSpPr>
          <p:cNvPr id="4" name="Slide Number Placeholder 3"/>
          <p:cNvSpPr>
            <a:spLocks noGrp="1"/>
          </p:cNvSpPr>
          <p:nvPr>
            <p:ph type="sldNum" sz="quarter" idx="12"/>
          </p:nvPr>
        </p:nvSpPr>
        <p:spPr/>
        <p:txBody>
          <a:bodyPr/>
          <a:lstStyle/>
          <a:p>
            <a:fld id="{B03FF234-8176-4A77-8F9A-3A491C5D5CBE}" type="slidenum">
              <a:rPr lang="en-IN" smtClean="0"/>
              <a:t>13</a:t>
            </a:fld>
            <a:endParaRPr lang="en-IN" dirty="0"/>
          </a:p>
        </p:txBody>
      </p:sp>
      <p:sp>
        <p:nvSpPr>
          <p:cNvPr id="163" name="Box 163"/>
          <p:cNvSpPr txBox="1"/>
          <p:nvPr/>
        </p:nvSpPr>
        <p:spPr>
          <a:xfrm>
            <a:off x="548640" y="1143000"/>
            <a:ext cx="8046720" cy="3566160"/>
          </a:xfrm>
          <a:prstGeom prst="rect">
            <a:avLst/>
          </a:prstGeom>
          <a:noFill/>
          <a:ln>
            <a:noFill/>
          </a:ln>
        </p:spPr>
        <p:txBody>
          <a:bodyPr wrap="square" lIns="91440" tIns="91440" rIns="91440" bIns="91440" anchor="t">
            <a:noAutofit/>
          </a:bodyPr>
          <a:lstStyle/>
          <a:p>
            <a:r>
              <a:t>The four-week Java Full Stack Web Development internship connected academic concepts with practical software engineering workflows.</a:t>
            </a:r>
          </a:p>
          <a:p>
            <a:r>
              <a:t>The project covered Java, Spring Boot, RESTful APIs, relational database persistence, frontend integration, and application testing.</a:t>
            </a:r>
          </a:p>
          <a:p>
            <a:r>
              <a:t>Problem-solving, debugging, documentation, version control, and iterative development practices were strengthened.</a:t>
            </a:r>
          </a:p>
          <a:p>
            <a:r>
              <a:t>The experience provides a foundation for further learning and future projects in enterprise application and full-stack software development.</a:t>
            </a:r>
          </a:p>
        </p:txBody>
      </p:sp>
      <p:sp>
        <p:nvSpPr>
          <p:cNvPr id="164" name="Box 164"/>
          <p:cNvSpPr txBox="1"/>
          <p:nvPr/>
        </p:nvSpPr>
        <p:spPr>
          <a:xfrm>
            <a:off x="2103120" y="4754880"/>
            <a:ext cx="4937760" cy="731520"/>
          </a:xfrm>
          <a:prstGeom prst="roundRect">
            <a:avLst>
              <a:gd name="adj" fmla="val 8000"/>
            </a:avLst>
          </a:prstGeom>
          <a:solidFill>
            <a:srgbClr val="007434"/>
          </a:solidFill>
          <a:ln>
            <a:noFill/>
          </a:ln>
        </p:spPr>
        <p:txBody>
          <a:bodyPr wrap="square" lIns="91440" tIns="91440" rIns="91440" bIns="91440" anchor="ctr">
            <a:noAutofit/>
          </a:bodyPr>
          <a:lstStyle/>
          <a:p>
            <a:pPr marL="0" indent="0" algn="ctr">
              <a:lnSpc>
                <a:spcPct val="100000"/>
              </a:lnSpc>
              <a:spcAft>
                <a:spcPts val="0"/>
              </a:spcAft>
              <a:buNone/>
            </a:pPr>
            <a:r>
              <a:rPr lang="en-US" sz="2400" b="1" dirty="0">
                <a:solidFill>
                  <a:srgbClr val="FFFFFF"/>
                </a:solidFill>
                <a:latin typeface="Tahoma" panose="020B0604030504040204"/>
                <a:cs typeface="Tahoma" panose="020B0604030504040204"/>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768</Words>
  <Application>Microsoft Office PowerPoint</Application>
  <PresentationFormat>On-screen Show (4:3)</PresentationFormat>
  <Paragraphs>131</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Bitter Black</vt:lpstr>
      <vt:lpstr>Britannic Bold</vt:lpstr>
      <vt:lpstr>Calibri</vt:lpstr>
      <vt:lpstr>Tahoma</vt:lpstr>
      <vt:lpstr>Tw Cen MT</vt:lpstr>
      <vt:lpstr>Verdana</vt:lpstr>
      <vt:lpstr>Office Theme</vt:lpstr>
      <vt:lpstr>Java Full Stack Web Development</vt:lpstr>
      <vt:lpstr>Table of Contents</vt:lpstr>
      <vt:lpstr>1. Internship Completion Certificate</vt:lpstr>
      <vt:lpstr>2. Abstract</vt:lpstr>
      <vt:lpstr>3 Introduction</vt:lpstr>
      <vt:lpstr>3.1     Description of the Company</vt:lpstr>
      <vt:lpstr>3.2     Overview of the Project</vt:lpstr>
      <vt:lpstr>3.3     Technology Stack</vt:lpstr>
      <vt:lpstr>4. Summary of Experience</vt:lpstr>
      <vt:lpstr>4. Summary of Experience – Key Results</vt:lpstr>
      <vt:lpstr>5. Reflection on Learning</vt:lpstr>
      <vt:lpstr>5. Reflection – Technology Practices Observed</vt:lpstr>
      <vt:lpstr>6.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 in Research Research and Grow Rich</dc:title>
  <dc:creator>Sunitha</dc:creator>
  <cp:lastModifiedBy>kayam tejareddy</cp:lastModifiedBy>
  <cp:revision>140</cp:revision>
  <dcterms:created xsi:type="dcterms:W3CDTF">2018-07-11T04:49:00Z</dcterms:created>
  <dcterms:modified xsi:type="dcterms:W3CDTF">2026-10-24T04:52:18Z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AED11A84D2CD45D1AB5F245D3DB6C380_12</vt:lpwstr>
  </property>
  <property fmtid="{D5CDD505-2E9C-101B-9397-08002B2CF9AE}" pid="3" name="KSOProductBuildVer">
    <vt:lpwstr>2057-12.2.0.23206</vt:lpwstr>
  </property>
</Properties>
</file>